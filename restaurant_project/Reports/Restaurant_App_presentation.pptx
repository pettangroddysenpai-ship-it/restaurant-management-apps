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70" r:id="rId2"/>
    <p:sldId id="271" r:id="rId3"/>
    <p:sldId id="272" r:id="rId4"/>
    <p:sldId id="273" r:id="rId5"/>
    <p:sldId id="274" r:id="rId6"/>
    <p:sldId id="275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1048912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5BE6F-9C63-414D-8F72-892E7D4F2E85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1048913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1048914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48915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1048916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2A57A-93EF-A34C-96CB-728FE5B0A8C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6583680" y="-731520"/>
            <a:ext cx="2194560" cy="2194560"/>
          </a:xfrm>
          <a:prstGeom prst="ellipse">
            <a:avLst/>
          </a:prstGeom>
          <a:solidFill>
            <a:srgbClr val="E8642A">
              <a:alpha val="20000"/>
            </a:srgbClr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579" name="Shape 3"/>
          <p:cNvSpPr/>
          <p:nvPr/>
        </p:nvSpPr>
        <p:spPr>
          <a:xfrm>
            <a:off x="6217920" y="3200400"/>
            <a:ext cx="1463040" cy="1463040"/>
          </a:xfrm>
          <a:prstGeom prst="ellipse">
            <a:avLst/>
          </a:prstGeom>
          <a:solidFill>
            <a:srgbClr val="E8642A">
              <a:alpha val="30000"/>
            </a:srgbClr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6583680" y="137160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A2E5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581" name="Text 5"/>
          <p:cNvSpPr/>
          <p:nvPr/>
        </p:nvSpPr>
        <p:spPr>
          <a:xfrm>
            <a:off x="6583680" y="155448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🍽️</a:t>
            </a:r>
            <a:endParaRPr lang="en-US" sz="4000" dirty="0"/>
          </a:p>
        </p:txBody>
      </p:sp>
      <p:sp>
        <p:nvSpPr>
          <p:cNvPr id="1048582" name="Text 6"/>
          <p:cNvSpPr/>
          <p:nvPr/>
        </p:nvSpPr>
        <p:spPr>
          <a:xfrm>
            <a:off x="6492240" y="25603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MANAGER</a:t>
            </a:r>
            <a:endParaRPr lang="en-US" sz="800" dirty="0"/>
          </a:p>
        </p:txBody>
      </p:sp>
      <p:sp>
        <p:nvSpPr>
          <p:cNvPr id="1048583" name="Text 7"/>
          <p:cNvSpPr/>
          <p:nvPr/>
        </p:nvSpPr>
        <p:spPr>
          <a:xfrm>
            <a:off x="508299" y="21516"/>
            <a:ext cx="5435301" cy="1463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Restaurant Management </a:t>
            </a:r>
            <a:r>
              <a:rPr lang="en-US" sz="3200" b="1" dirty="0">
                <a:solidFill>
                  <a:srgbClr val="E8642A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1048584" name="Text 8"/>
          <p:cNvSpPr/>
          <p:nvPr/>
        </p:nvSpPr>
        <p:spPr>
          <a:xfrm>
            <a:off x="640080" y="160020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48586" name="Shape 10"/>
          <p:cNvSpPr/>
          <p:nvPr/>
        </p:nvSpPr>
        <p:spPr>
          <a:xfrm>
            <a:off x="640080" y="3017520"/>
            <a:ext cx="1170432" cy="310896"/>
          </a:xfrm>
          <a:prstGeom prst="rect">
            <a:avLst/>
          </a:prstGeom>
          <a:solidFill>
            <a:srgbClr val="2A2A50"/>
          </a:solidFill>
          <a:ln w="9525">
            <a:solidFill>
              <a:srgbClr val="E8642A"/>
            </a:solidFill>
            <a:prstDash val="solid"/>
          </a:ln>
        </p:spPr>
      </p:sp>
      <p:sp>
        <p:nvSpPr>
          <p:cNvPr id="1048587" name="Text 11"/>
          <p:cNvSpPr/>
          <p:nvPr/>
        </p:nvSpPr>
        <p:spPr>
          <a:xfrm>
            <a:off x="640080" y="3017520"/>
            <a:ext cx="1170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Python</a:t>
            </a:r>
            <a:endParaRPr lang="en-US" sz="900" dirty="0"/>
          </a:p>
        </p:txBody>
      </p:sp>
      <p:sp>
        <p:nvSpPr>
          <p:cNvPr id="1048588" name="Shape 12"/>
          <p:cNvSpPr/>
          <p:nvPr/>
        </p:nvSpPr>
        <p:spPr>
          <a:xfrm>
            <a:off x="1901952" y="3017520"/>
            <a:ext cx="1170432" cy="310896"/>
          </a:xfrm>
          <a:prstGeom prst="rect">
            <a:avLst/>
          </a:prstGeom>
          <a:solidFill>
            <a:srgbClr val="2A2A50"/>
          </a:solidFill>
          <a:ln w="9525">
            <a:solidFill>
              <a:srgbClr val="E8642A"/>
            </a:solidFill>
            <a:prstDash val="solid"/>
          </a:ln>
        </p:spPr>
      </p:sp>
      <p:sp>
        <p:nvSpPr>
          <p:cNvPr id="1048589" name="Text 13"/>
          <p:cNvSpPr/>
          <p:nvPr/>
        </p:nvSpPr>
        <p:spPr>
          <a:xfrm>
            <a:off x="1901952" y="3017520"/>
            <a:ext cx="1170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(23 Tables)</a:t>
            </a:r>
            <a:endParaRPr lang="en-US" sz="900" dirty="0"/>
          </a:p>
        </p:txBody>
      </p:sp>
      <p:sp>
        <p:nvSpPr>
          <p:cNvPr id="1048590" name="Shape 14"/>
          <p:cNvSpPr/>
          <p:nvPr/>
        </p:nvSpPr>
        <p:spPr>
          <a:xfrm>
            <a:off x="3163824" y="3017520"/>
            <a:ext cx="1170432" cy="310896"/>
          </a:xfrm>
          <a:prstGeom prst="rect">
            <a:avLst/>
          </a:prstGeom>
          <a:solidFill>
            <a:srgbClr val="2A2A50"/>
          </a:solidFill>
          <a:ln w="9525">
            <a:solidFill>
              <a:srgbClr val="E8642A"/>
            </a:solidFill>
            <a:prstDash val="solid"/>
          </a:ln>
        </p:spPr>
      </p:sp>
      <p:sp>
        <p:nvSpPr>
          <p:cNvPr id="1048591" name="Text 15"/>
          <p:cNvSpPr/>
          <p:nvPr/>
        </p:nvSpPr>
        <p:spPr>
          <a:xfrm>
            <a:off x="3163824" y="3017520"/>
            <a:ext cx="1170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</a:t>
            </a:r>
            <a:endParaRPr lang="en-US" sz="900" dirty="0"/>
          </a:p>
        </p:txBody>
      </p:sp>
      <p:sp>
        <p:nvSpPr>
          <p:cNvPr id="1048592" name="Shape 16"/>
          <p:cNvSpPr/>
          <p:nvPr/>
        </p:nvSpPr>
        <p:spPr>
          <a:xfrm>
            <a:off x="4425696" y="3017520"/>
            <a:ext cx="1170432" cy="310896"/>
          </a:xfrm>
          <a:prstGeom prst="rect">
            <a:avLst/>
          </a:prstGeom>
          <a:solidFill>
            <a:srgbClr val="2A2A50"/>
          </a:solidFill>
          <a:ln w="9525">
            <a:solidFill>
              <a:srgbClr val="E8642A"/>
            </a:solidFill>
            <a:prstDash val="solid"/>
          </a:ln>
        </p:spPr>
      </p:sp>
      <p:sp>
        <p:nvSpPr>
          <p:cNvPr id="1048593" name="Text 17"/>
          <p:cNvSpPr/>
          <p:nvPr/>
        </p:nvSpPr>
        <p:spPr>
          <a:xfrm>
            <a:off x="4425696" y="3017520"/>
            <a:ext cx="1170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Phases</a:t>
            </a:r>
            <a:endParaRPr lang="en-US" sz="900" dirty="0"/>
          </a:p>
        </p:txBody>
      </p:sp>
      <p:sp>
        <p:nvSpPr>
          <p:cNvPr id="1048594" name="Text 18"/>
          <p:cNvSpPr/>
          <p:nvPr/>
        </p:nvSpPr>
        <p:spPr>
          <a:xfrm>
            <a:off x="640080" y="4480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MySQL  |  MVT Architecture  |  Role-Based Access Control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599" name="Shape 1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00" name="Text 2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</a:t>
            </a:r>
            <a:endParaRPr lang="en-US" sz="900" dirty="0"/>
          </a:p>
        </p:txBody>
      </p:sp>
      <p:sp>
        <p:nvSpPr>
          <p:cNvPr id="1048601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Project Setup &amp; Database Models</a:t>
            </a: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1048602" name="Shape 4"/>
          <p:cNvSpPr/>
          <p:nvPr/>
        </p:nvSpPr>
        <p:spPr>
          <a:xfrm>
            <a:off x="274320" y="1143000"/>
            <a:ext cx="4023360" cy="347472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603" name="Shape 5"/>
          <p:cNvSpPr/>
          <p:nvPr/>
        </p:nvSpPr>
        <p:spPr>
          <a:xfrm>
            <a:off x="274320" y="1143000"/>
            <a:ext cx="40233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604" name="Text 6"/>
          <p:cNvSpPr/>
          <p:nvPr/>
        </p:nvSpPr>
        <p:spPr>
          <a:xfrm>
            <a:off x="365760" y="115214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Phase 1: Setup &amp; Configuration</a:t>
            </a:r>
            <a:endParaRPr lang="en-US" sz="1100" dirty="0"/>
          </a:p>
        </p:txBody>
      </p:sp>
      <p:sp>
        <p:nvSpPr>
          <p:cNvPr id="1048605" name="Shape 7"/>
          <p:cNvSpPr/>
          <p:nvPr/>
        </p:nvSpPr>
        <p:spPr>
          <a:xfrm>
            <a:off x="384048" y="1554480"/>
            <a:ext cx="502920" cy="24688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06" name="Text 8"/>
          <p:cNvSpPr/>
          <p:nvPr/>
        </p:nvSpPr>
        <p:spPr>
          <a:xfrm>
            <a:off x="384048" y="155448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50" dirty="0"/>
          </a:p>
        </p:txBody>
      </p:sp>
      <p:sp>
        <p:nvSpPr>
          <p:cNvPr id="1048607" name="Text 9"/>
          <p:cNvSpPr/>
          <p:nvPr/>
        </p:nvSpPr>
        <p:spPr>
          <a:xfrm>
            <a:off x="960120" y="155448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tools: Django, mysqlclient, Pillow, python-decouple</a:t>
            </a:r>
            <a:endParaRPr lang="en-US" sz="900" dirty="0"/>
          </a:p>
        </p:txBody>
      </p:sp>
      <p:sp>
        <p:nvSpPr>
          <p:cNvPr id="1048608" name="Shape 10"/>
          <p:cNvSpPr/>
          <p:nvPr/>
        </p:nvSpPr>
        <p:spPr>
          <a:xfrm>
            <a:off x="384048" y="2057400"/>
            <a:ext cx="502920" cy="24688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09" name="Text 11"/>
          <p:cNvSpPr/>
          <p:nvPr/>
        </p:nvSpPr>
        <p:spPr>
          <a:xfrm>
            <a:off x="384048" y="205740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50" dirty="0"/>
          </a:p>
        </p:txBody>
      </p:sp>
      <p:sp>
        <p:nvSpPr>
          <p:cNvPr id="1048610" name="Text 12"/>
          <p:cNvSpPr/>
          <p:nvPr/>
        </p:nvSpPr>
        <p:spPr>
          <a:xfrm>
            <a:off x="960120" y="20574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Django project structure with manage.py</a:t>
            </a:r>
            <a:endParaRPr lang="en-US" sz="900" dirty="0"/>
          </a:p>
        </p:txBody>
      </p:sp>
      <p:sp>
        <p:nvSpPr>
          <p:cNvPr id="1048611" name="Shape 13"/>
          <p:cNvSpPr/>
          <p:nvPr/>
        </p:nvSpPr>
        <p:spPr>
          <a:xfrm>
            <a:off x="384048" y="2579146"/>
            <a:ext cx="502920" cy="24688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12" name="Text 14"/>
          <p:cNvSpPr/>
          <p:nvPr/>
        </p:nvSpPr>
        <p:spPr>
          <a:xfrm>
            <a:off x="384048" y="256032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50" dirty="0"/>
          </a:p>
        </p:txBody>
      </p:sp>
      <p:sp>
        <p:nvSpPr>
          <p:cNvPr id="1048613" name="Text 15"/>
          <p:cNvSpPr/>
          <p:nvPr/>
        </p:nvSpPr>
        <p:spPr>
          <a:xfrm>
            <a:off x="960120" y="256032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8 Django apps: orders, products, inventory, hr, delivery, finance, dashboard, users</a:t>
            </a:r>
            <a:endParaRPr lang="en-US" sz="900" dirty="0"/>
          </a:p>
        </p:txBody>
      </p:sp>
      <p:sp>
        <p:nvSpPr>
          <p:cNvPr id="1048614" name="Shape 16"/>
          <p:cNvSpPr/>
          <p:nvPr/>
        </p:nvSpPr>
        <p:spPr>
          <a:xfrm>
            <a:off x="384048" y="3063240"/>
            <a:ext cx="502920" cy="24688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15" name="Text 17"/>
          <p:cNvSpPr/>
          <p:nvPr/>
        </p:nvSpPr>
        <p:spPr>
          <a:xfrm>
            <a:off x="384048" y="306324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50" dirty="0"/>
          </a:p>
        </p:txBody>
      </p:sp>
      <p:sp>
        <p:nvSpPr>
          <p:cNvPr id="1048616" name="Text 18"/>
          <p:cNvSpPr/>
          <p:nvPr/>
        </p:nvSpPr>
        <p:spPr>
          <a:xfrm>
            <a:off x="960120" y="30632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MySQL connection in settings.py</a:t>
            </a:r>
            <a:endParaRPr lang="en-US" sz="900" dirty="0"/>
          </a:p>
        </p:txBody>
      </p:sp>
      <p:sp>
        <p:nvSpPr>
          <p:cNvPr id="1048617" name="Shape 19"/>
          <p:cNvSpPr/>
          <p:nvPr/>
        </p:nvSpPr>
        <p:spPr>
          <a:xfrm>
            <a:off x="384048" y="3566160"/>
            <a:ext cx="502920" cy="24688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18" name="Text 20"/>
          <p:cNvSpPr/>
          <p:nvPr/>
        </p:nvSpPr>
        <p:spPr>
          <a:xfrm>
            <a:off x="384048" y="356616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750" dirty="0"/>
          </a:p>
        </p:txBody>
      </p:sp>
      <p:sp>
        <p:nvSpPr>
          <p:cNvPr id="1048619" name="Text 21"/>
          <p:cNvSpPr/>
          <p:nvPr/>
        </p:nvSpPr>
        <p:spPr>
          <a:xfrm>
            <a:off x="960120" y="35661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all apps &amp; import the Base_Restaurant.sql (23 tables)</a:t>
            </a:r>
            <a:endParaRPr lang="en-US" sz="900" dirty="0"/>
          </a:p>
        </p:txBody>
      </p:sp>
      <p:sp>
        <p:nvSpPr>
          <p:cNvPr id="1048620" name="Shape 22"/>
          <p:cNvSpPr/>
          <p:nvPr/>
        </p:nvSpPr>
        <p:spPr>
          <a:xfrm>
            <a:off x="384048" y="4069080"/>
            <a:ext cx="502920" cy="24688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21" name="Text 23"/>
          <p:cNvSpPr/>
          <p:nvPr/>
        </p:nvSpPr>
        <p:spPr>
          <a:xfrm>
            <a:off x="384048" y="406908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750" dirty="0"/>
          </a:p>
        </p:txBody>
      </p:sp>
      <p:sp>
        <p:nvSpPr>
          <p:cNvPr id="1048622" name="Text 24"/>
          <p:cNvSpPr/>
          <p:nvPr/>
        </p:nvSpPr>
        <p:spPr>
          <a:xfrm>
            <a:off x="960120" y="406908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connection: python manage.py check</a:t>
            </a:r>
            <a:endParaRPr lang="en-US" sz="900" dirty="0"/>
          </a:p>
        </p:txBody>
      </p:sp>
      <p:sp>
        <p:nvSpPr>
          <p:cNvPr id="1048623" name="Shape 25"/>
          <p:cNvSpPr/>
          <p:nvPr/>
        </p:nvSpPr>
        <p:spPr>
          <a:xfrm>
            <a:off x="4572000" y="1143000"/>
            <a:ext cx="4297680" cy="164592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624" name="Shape 26"/>
          <p:cNvSpPr/>
          <p:nvPr/>
        </p:nvSpPr>
        <p:spPr>
          <a:xfrm>
            <a:off x="4572000" y="1143000"/>
            <a:ext cx="4297680" cy="329184"/>
          </a:xfrm>
          <a:prstGeom prst="rect">
            <a:avLst/>
          </a:prstGeom>
          <a:solidFill>
            <a:srgbClr val="3A1060"/>
          </a:solidFill>
          <a:ln w="12700">
            <a:solidFill>
              <a:srgbClr val="3A1060"/>
            </a:solidFill>
            <a:prstDash val="solid"/>
          </a:ln>
        </p:spPr>
      </p:sp>
      <p:sp>
        <p:nvSpPr>
          <p:cNvPr id="1048625" name="Text 27"/>
          <p:cNvSpPr/>
          <p:nvPr/>
        </p:nvSpPr>
        <p:spPr>
          <a:xfrm>
            <a:off x="4663440" y="115214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Phase 2: Django Models (23 SQL Tables)</a:t>
            </a:r>
            <a:endParaRPr lang="en-US" sz="1100" dirty="0"/>
          </a:p>
        </p:txBody>
      </p:sp>
      <p:sp>
        <p:nvSpPr>
          <p:cNvPr id="1048626" name="Text 28"/>
          <p:cNvSpPr/>
          <p:nvPr/>
        </p:nvSpPr>
        <p:spPr>
          <a:xfrm>
            <a:off x="4663440" y="155448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</a:t>
            </a:r>
            <a:endParaRPr lang="en-US" sz="900" dirty="0"/>
          </a:p>
        </p:txBody>
      </p:sp>
      <p:sp>
        <p:nvSpPr>
          <p:cNvPr id="1048627" name="Text 29"/>
          <p:cNvSpPr/>
          <p:nvPr/>
        </p:nvSpPr>
        <p:spPr>
          <a:xfrm>
            <a:off x="5486400" y="1554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Table, Reservation, Commande, Ligne_Commande</a:t>
            </a:r>
            <a:endParaRPr lang="en-US" sz="850" dirty="0"/>
          </a:p>
        </p:txBody>
      </p:sp>
      <p:sp>
        <p:nvSpPr>
          <p:cNvPr id="1048628" name="Text 30"/>
          <p:cNvSpPr/>
          <p:nvPr/>
        </p:nvSpPr>
        <p:spPr>
          <a:xfrm>
            <a:off x="4663440" y="18653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products/</a:t>
            </a:r>
            <a:endParaRPr lang="en-US" sz="900" dirty="0"/>
          </a:p>
        </p:txBody>
      </p:sp>
      <p:sp>
        <p:nvSpPr>
          <p:cNvPr id="1048629" name="Text 31"/>
          <p:cNvSpPr/>
          <p:nvPr/>
        </p:nvSpPr>
        <p:spPr>
          <a:xfrm>
            <a:off x="5486400" y="186537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Produit, Ingredient, Composition_Produit</a:t>
            </a:r>
            <a:endParaRPr lang="en-US" sz="850" dirty="0"/>
          </a:p>
        </p:txBody>
      </p:sp>
      <p:sp>
        <p:nvSpPr>
          <p:cNvPr id="1048630" name="Text 32"/>
          <p:cNvSpPr/>
          <p:nvPr/>
        </p:nvSpPr>
        <p:spPr>
          <a:xfrm>
            <a:off x="4663440" y="217627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inventory/</a:t>
            </a:r>
            <a:endParaRPr lang="en-US" sz="900" dirty="0"/>
          </a:p>
        </p:txBody>
      </p:sp>
      <p:sp>
        <p:nvSpPr>
          <p:cNvPr id="1048631" name="Text 33"/>
          <p:cNvSpPr/>
          <p:nvPr/>
        </p:nvSpPr>
        <p:spPr>
          <a:xfrm>
            <a:off x="5486400" y="217627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Variation_Stock, Approvisionnement, Fournisseur</a:t>
            </a:r>
            <a:endParaRPr lang="en-US" sz="850" dirty="0"/>
          </a:p>
        </p:txBody>
      </p:sp>
      <p:sp>
        <p:nvSpPr>
          <p:cNvPr id="1048632" name="Text 34"/>
          <p:cNvSpPr/>
          <p:nvPr/>
        </p:nvSpPr>
        <p:spPr>
          <a:xfrm>
            <a:off x="4663440" y="248716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hr/</a:t>
            </a:r>
            <a:endParaRPr lang="en-US" sz="900" dirty="0"/>
          </a:p>
        </p:txBody>
      </p:sp>
      <p:sp>
        <p:nvSpPr>
          <p:cNvPr id="1048633" name="Text 35"/>
          <p:cNvSpPr/>
          <p:nvPr/>
        </p:nvSpPr>
        <p:spPr>
          <a:xfrm>
            <a:off x="5486400" y="24871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Employe, Poste, Affectation, Supervision</a:t>
            </a:r>
            <a:endParaRPr lang="en-US" sz="850" dirty="0"/>
          </a:p>
        </p:txBody>
      </p:sp>
      <p:sp>
        <p:nvSpPr>
          <p:cNvPr id="1048638" name="Shape 40"/>
          <p:cNvSpPr/>
          <p:nvPr/>
        </p:nvSpPr>
        <p:spPr>
          <a:xfrm>
            <a:off x="4352544" y="2825496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39" name="Shape 41"/>
          <p:cNvSpPr/>
          <p:nvPr/>
        </p:nvSpPr>
        <p:spPr>
          <a:xfrm>
            <a:off x="9034272" y="2825496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40" name="Shape 42"/>
          <p:cNvSpPr/>
          <p:nvPr/>
        </p:nvSpPr>
        <p:spPr>
          <a:xfrm>
            <a:off x="4370831" y="4978639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41" name="Shape 43"/>
          <p:cNvSpPr/>
          <p:nvPr/>
        </p:nvSpPr>
        <p:spPr>
          <a:xfrm>
            <a:off x="9034272" y="4978639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E45224-989B-2015-6DF6-7EE3CB02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2816353"/>
            <a:ext cx="4553713" cy="2272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46" name="Shape 1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47" name="Text 2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</a:t>
            </a:r>
            <a:endParaRPr lang="en-US" sz="900" dirty="0"/>
          </a:p>
        </p:txBody>
      </p:sp>
      <p:sp>
        <p:nvSpPr>
          <p:cNvPr id="1048648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Authentication, User Roles &amp; UI Templates</a:t>
            </a:r>
            <a:endParaRPr lang="en-US" sz="2600" dirty="0"/>
          </a:p>
        </p:txBody>
      </p:sp>
      <p:sp>
        <p:nvSpPr>
          <p:cNvPr id="1048649" name="Shape 4"/>
          <p:cNvSpPr/>
          <p:nvPr/>
        </p:nvSpPr>
        <p:spPr>
          <a:xfrm>
            <a:off x="274320" y="1097280"/>
            <a:ext cx="4937760" cy="182880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650" name="Text 5"/>
          <p:cNvSpPr/>
          <p:nvPr/>
        </p:nvSpPr>
        <p:spPr>
          <a:xfrm>
            <a:off x="411480" y="117043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6 User Roles (Phase 3)</a:t>
            </a:r>
            <a:endParaRPr lang="en-US" sz="1200" dirty="0"/>
          </a:p>
        </p:txBody>
      </p:sp>
      <p:sp>
        <p:nvSpPr>
          <p:cNvPr id="1048651" name="Shape 6"/>
          <p:cNvSpPr/>
          <p:nvPr/>
        </p:nvSpPr>
        <p:spPr>
          <a:xfrm>
            <a:off x="384048" y="1572768"/>
            <a:ext cx="91440" cy="2468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48652" name="Text 7"/>
          <p:cNvSpPr/>
          <p:nvPr/>
        </p:nvSpPr>
        <p:spPr>
          <a:xfrm>
            <a:off x="521208" y="157276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850" dirty="0"/>
          </a:p>
        </p:txBody>
      </p:sp>
      <p:sp>
        <p:nvSpPr>
          <p:cNvPr id="1048653" name="Text 8"/>
          <p:cNvSpPr/>
          <p:nvPr/>
        </p:nvSpPr>
        <p:spPr>
          <a:xfrm>
            <a:off x="1435608" y="1572768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Administrateur</a:t>
            </a:r>
            <a:endParaRPr lang="en-US" sz="850" dirty="0"/>
          </a:p>
        </p:txBody>
      </p:sp>
      <p:sp>
        <p:nvSpPr>
          <p:cNvPr id="1048654" name="Shape 9"/>
          <p:cNvSpPr/>
          <p:nvPr/>
        </p:nvSpPr>
        <p:spPr>
          <a:xfrm>
            <a:off x="2834640" y="1572768"/>
            <a:ext cx="91440" cy="2468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48655" name="Text 10"/>
          <p:cNvSpPr/>
          <p:nvPr/>
        </p:nvSpPr>
        <p:spPr>
          <a:xfrm>
            <a:off x="2971800" y="157276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</a:t>
            </a:r>
            <a:endParaRPr lang="en-US" sz="850" dirty="0"/>
          </a:p>
        </p:txBody>
      </p:sp>
      <p:sp>
        <p:nvSpPr>
          <p:cNvPr id="1048656" name="Text 11"/>
          <p:cNvSpPr/>
          <p:nvPr/>
        </p:nvSpPr>
        <p:spPr>
          <a:xfrm>
            <a:off x="3886200" y="1572768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Directeur</a:t>
            </a:r>
            <a:endParaRPr lang="en-US" sz="850" dirty="0"/>
          </a:p>
        </p:txBody>
      </p:sp>
      <p:sp>
        <p:nvSpPr>
          <p:cNvPr id="1048657" name="Shape 12"/>
          <p:cNvSpPr/>
          <p:nvPr/>
        </p:nvSpPr>
        <p:spPr>
          <a:xfrm>
            <a:off x="384048" y="1956816"/>
            <a:ext cx="91440" cy="2468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48658" name="Text 13"/>
          <p:cNvSpPr/>
          <p:nvPr/>
        </p:nvSpPr>
        <p:spPr>
          <a:xfrm>
            <a:off x="521208" y="1956816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head_chef</a:t>
            </a:r>
            <a:endParaRPr lang="en-US" sz="850" dirty="0"/>
          </a:p>
        </p:txBody>
      </p:sp>
      <p:sp>
        <p:nvSpPr>
          <p:cNvPr id="1048659" name="Text 14"/>
          <p:cNvSpPr/>
          <p:nvPr/>
        </p:nvSpPr>
        <p:spPr>
          <a:xfrm>
            <a:off x="1435608" y="1956816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Chef Cuisinier</a:t>
            </a:r>
            <a:endParaRPr lang="en-US" sz="850" dirty="0"/>
          </a:p>
        </p:txBody>
      </p:sp>
      <p:sp>
        <p:nvSpPr>
          <p:cNvPr id="1048660" name="Shape 15"/>
          <p:cNvSpPr/>
          <p:nvPr/>
        </p:nvSpPr>
        <p:spPr>
          <a:xfrm>
            <a:off x="2834640" y="1956816"/>
            <a:ext cx="91440" cy="24688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48661" name="Text 16"/>
          <p:cNvSpPr/>
          <p:nvPr/>
        </p:nvSpPr>
        <p:spPr>
          <a:xfrm>
            <a:off x="2971800" y="1956816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</a:t>
            </a:r>
            <a:endParaRPr lang="en-US" sz="850" dirty="0"/>
          </a:p>
        </p:txBody>
      </p:sp>
      <p:sp>
        <p:nvSpPr>
          <p:cNvPr id="1048662" name="Text 17"/>
          <p:cNvSpPr/>
          <p:nvPr/>
        </p:nvSpPr>
        <p:spPr>
          <a:xfrm>
            <a:off x="3886200" y="1956816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Cuisinier</a:t>
            </a:r>
            <a:endParaRPr lang="en-US" sz="850" dirty="0"/>
          </a:p>
        </p:txBody>
      </p:sp>
      <p:sp>
        <p:nvSpPr>
          <p:cNvPr id="1048663" name="Shape 18"/>
          <p:cNvSpPr/>
          <p:nvPr/>
        </p:nvSpPr>
        <p:spPr>
          <a:xfrm>
            <a:off x="384048" y="2340864"/>
            <a:ext cx="91440" cy="2468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48664" name="Text 19"/>
          <p:cNvSpPr/>
          <p:nvPr/>
        </p:nvSpPr>
        <p:spPr>
          <a:xfrm>
            <a:off x="521208" y="234086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850" dirty="0"/>
          </a:p>
        </p:txBody>
      </p:sp>
      <p:sp>
        <p:nvSpPr>
          <p:cNvPr id="1048665" name="Text 20"/>
          <p:cNvSpPr/>
          <p:nvPr/>
        </p:nvSpPr>
        <p:spPr>
          <a:xfrm>
            <a:off x="1435608" y="2340864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Serveur</a:t>
            </a:r>
            <a:endParaRPr lang="en-US" sz="850" dirty="0"/>
          </a:p>
        </p:txBody>
      </p:sp>
      <p:sp>
        <p:nvSpPr>
          <p:cNvPr id="1048666" name="Shape 21"/>
          <p:cNvSpPr/>
          <p:nvPr/>
        </p:nvSpPr>
        <p:spPr>
          <a:xfrm>
            <a:off x="2834640" y="2340864"/>
            <a:ext cx="91440" cy="2468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48667" name="Text 22"/>
          <p:cNvSpPr/>
          <p:nvPr/>
        </p:nvSpPr>
        <p:spPr>
          <a:xfrm>
            <a:off x="2971800" y="234086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stock_manager</a:t>
            </a:r>
            <a:endParaRPr lang="en-US" sz="850" dirty="0"/>
          </a:p>
        </p:txBody>
      </p:sp>
      <p:sp>
        <p:nvSpPr>
          <p:cNvPr id="1048668" name="Text 23"/>
          <p:cNvSpPr/>
          <p:nvPr/>
        </p:nvSpPr>
        <p:spPr>
          <a:xfrm>
            <a:off x="3886200" y="2340864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Gestionnaire</a:t>
            </a:r>
            <a:endParaRPr lang="en-US" sz="850" dirty="0"/>
          </a:p>
        </p:txBody>
      </p:sp>
      <p:sp>
        <p:nvSpPr>
          <p:cNvPr id="1048669" name="Shape 24"/>
          <p:cNvSpPr/>
          <p:nvPr/>
        </p:nvSpPr>
        <p:spPr>
          <a:xfrm>
            <a:off x="274320" y="2999232"/>
            <a:ext cx="4937760" cy="173736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670" name="Text 25"/>
          <p:cNvSpPr/>
          <p:nvPr/>
        </p:nvSpPr>
        <p:spPr>
          <a:xfrm>
            <a:off x="411480" y="307238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Auth Steps (Steps 11–14)</a:t>
            </a:r>
            <a:endParaRPr lang="en-US" sz="1100" dirty="0"/>
          </a:p>
        </p:txBody>
      </p:sp>
      <p:sp>
        <p:nvSpPr>
          <p:cNvPr id="1048671" name="Shape 26"/>
          <p:cNvSpPr/>
          <p:nvPr/>
        </p:nvSpPr>
        <p:spPr>
          <a:xfrm>
            <a:off x="384048" y="3456432"/>
            <a:ext cx="164592" cy="164592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72" name="Text 27"/>
          <p:cNvSpPr/>
          <p:nvPr/>
        </p:nvSpPr>
        <p:spPr>
          <a:xfrm>
            <a:off x="621792" y="3447288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 model extends AbstractUser with a role field</a:t>
            </a:r>
            <a:endParaRPr lang="en-US" sz="900" dirty="0"/>
          </a:p>
        </p:txBody>
      </p:sp>
      <p:sp>
        <p:nvSpPr>
          <p:cNvPr id="1048673" name="Shape 28"/>
          <p:cNvSpPr/>
          <p:nvPr/>
        </p:nvSpPr>
        <p:spPr>
          <a:xfrm>
            <a:off x="384048" y="3767328"/>
            <a:ext cx="164592" cy="164592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74" name="Text 29"/>
          <p:cNvSpPr/>
          <p:nvPr/>
        </p:nvSpPr>
        <p:spPr>
          <a:xfrm>
            <a:off x="621792" y="3758184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AUTH_USER_MODEL = 'users.CustomUser' in settings.py</a:t>
            </a:r>
            <a:endParaRPr lang="en-US" sz="900" dirty="0"/>
          </a:p>
        </p:txBody>
      </p:sp>
      <p:sp>
        <p:nvSpPr>
          <p:cNvPr id="1048675" name="Shape 30"/>
          <p:cNvSpPr/>
          <p:nvPr/>
        </p:nvSpPr>
        <p:spPr>
          <a:xfrm>
            <a:off x="384048" y="4078224"/>
            <a:ext cx="164592" cy="164592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76" name="Text 31"/>
          <p:cNvSpPr/>
          <p:nvPr/>
        </p:nvSpPr>
        <p:spPr>
          <a:xfrm>
            <a:off x="621792" y="4069080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LoginView / LogoutView with custom template</a:t>
            </a:r>
            <a:endParaRPr lang="en-US" sz="900" dirty="0"/>
          </a:p>
        </p:txBody>
      </p:sp>
      <p:sp>
        <p:nvSpPr>
          <p:cNvPr id="1048677" name="Shape 32"/>
          <p:cNvSpPr/>
          <p:nvPr/>
        </p:nvSpPr>
        <p:spPr>
          <a:xfrm>
            <a:off x="384048" y="4389120"/>
            <a:ext cx="164592" cy="164592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78" name="Text 33"/>
          <p:cNvSpPr/>
          <p:nvPr/>
        </p:nvSpPr>
        <p:spPr>
          <a:xfrm>
            <a:off x="621792" y="4379976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@role_required('admin','director') decorator for protected views</a:t>
            </a:r>
            <a:endParaRPr lang="en-US" sz="900" dirty="0"/>
          </a:p>
        </p:txBody>
      </p:sp>
      <p:sp>
        <p:nvSpPr>
          <p:cNvPr id="1048679" name="Shape 34"/>
          <p:cNvSpPr/>
          <p:nvPr/>
        </p:nvSpPr>
        <p:spPr>
          <a:xfrm>
            <a:off x="5394960" y="1097280"/>
            <a:ext cx="3474720" cy="137160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680" name="Text 35"/>
          <p:cNvSpPr/>
          <p:nvPr/>
        </p:nvSpPr>
        <p:spPr>
          <a:xfrm>
            <a:off x="5532120" y="117043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Phase 4 — Base Template</a:t>
            </a:r>
            <a:endParaRPr lang="en-US" sz="1100" dirty="0"/>
          </a:p>
        </p:txBody>
      </p:sp>
      <p:sp>
        <p:nvSpPr>
          <p:cNvPr id="1048681" name="Shape 36"/>
          <p:cNvSpPr/>
          <p:nvPr/>
        </p:nvSpPr>
        <p:spPr>
          <a:xfrm>
            <a:off x="5532120" y="1554480"/>
            <a:ext cx="73152" cy="16459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82" name="Text 37"/>
          <p:cNvSpPr/>
          <p:nvPr/>
        </p:nvSpPr>
        <p:spPr>
          <a:xfrm>
            <a:off x="5669280" y="15544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loaded from CDN</a:t>
            </a:r>
            <a:endParaRPr lang="en-US" sz="900" dirty="0"/>
          </a:p>
        </p:txBody>
      </p:sp>
      <p:sp>
        <p:nvSpPr>
          <p:cNvPr id="1048683" name="Shape 38"/>
          <p:cNvSpPr/>
          <p:nvPr/>
        </p:nvSpPr>
        <p:spPr>
          <a:xfrm>
            <a:off x="5532120" y="1783080"/>
            <a:ext cx="73152" cy="16459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84" name="Text 39"/>
          <p:cNvSpPr/>
          <p:nvPr/>
        </p:nvSpPr>
        <p:spPr>
          <a:xfrm>
            <a:off x="5669280" y="17830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 with navbar + blocks</a:t>
            </a:r>
            <a:endParaRPr lang="en-US" sz="900" dirty="0"/>
          </a:p>
        </p:txBody>
      </p:sp>
      <p:sp>
        <p:nvSpPr>
          <p:cNvPr id="1048685" name="Shape 40"/>
          <p:cNvSpPr/>
          <p:nvPr/>
        </p:nvSpPr>
        <p:spPr>
          <a:xfrm>
            <a:off x="5532120" y="2011680"/>
            <a:ext cx="73152" cy="16459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86" name="Text 41"/>
          <p:cNvSpPr/>
          <p:nvPr/>
        </p:nvSpPr>
        <p:spPr>
          <a:xfrm>
            <a:off x="5669280" y="20116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templates use {% extends %}</a:t>
            </a:r>
            <a:endParaRPr lang="en-US" sz="900" dirty="0"/>
          </a:p>
        </p:txBody>
      </p:sp>
      <p:sp>
        <p:nvSpPr>
          <p:cNvPr id="1048687" name="Shape 42"/>
          <p:cNvSpPr/>
          <p:nvPr/>
        </p:nvSpPr>
        <p:spPr>
          <a:xfrm>
            <a:off x="5532120" y="2240280"/>
            <a:ext cx="73152" cy="16459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88" name="Text 43"/>
          <p:cNvSpPr/>
          <p:nvPr/>
        </p:nvSpPr>
        <p:spPr>
          <a:xfrm>
            <a:off x="5669280" y="22402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(CSS/JS) configured</a:t>
            </a:r>
            <a:endParaRPr lang="en-US" sz="900" dirty="0"/>
          </a:p>
        </p:txBody>
      </p:sp>
      <p:sp>
        <p:nvSpPr>
          <p:cNvPr id="1048689" name="Shape 44"/>
          <p:cNvSpPr/>
          <p:nvPr/>
        </p:nvSpPr>
        <p:spPr>
          <a:xfrm>
            <a:off x="5394960" y="2606040"/>
            <a:ext cx="3474720" cy="91440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690" name="Shape 45"/>
          <p:cNvSpPr/>
          <p:nvPr/>
        </p:nvSpPr>
        <p:spPr>
          <a:xfrm>
            <a:off x="6812280" y="265176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691" name="Shape 46"/>
          <p:cNvSpPr/>
          <p:nvPr/>
        </p:nvSpPr>
        <p:spPr>
          <a:xfrm>
            <a:off x="6995160" y="273405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692" name="Text 47"/>
          <p:cNvSpPr/>
          <p:nvPr/>
        </p:nvSpPr>
        <p:spPr>
          <a:xfrm>
            <a:off x="5394960" y="322783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Login page</a:t>
            </a:r>
            <a:endParaRPr lang="en-US" sz="900" dirty="0"/>
          </a:p>
        </p:txBody>
      </p:sp>
      <p:sp>
        <p:nvSpPr>
          <p:cNvPr id="1048693" name="Shape 48"/>
          <p:cNvSpPr/>
          <p:nvPr/>
        </p:nvSpPr>
        <p:spPr>
          <a:xfrm>
            <a:off x="5394960" y="260604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94" name="Shape 49"/>
          <p:cNvSpPr/>
          <p:nvPr/>
        </p:nvSpPr>
        <p:spPr>
          <a:xfrm>
            <a:off x="8759952" y="260604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95" name="Shape 50"/>
          <p:cNvSpPr/>
          <p:nvPr/>
        </p:nvSpPr>
        <p:spPr>
          <a:xfrm>
            <a:off x="5394960" y="341071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96" name="Shape 51"/>
          <p:cNvSpPr/>
          <p:nvPr/>
        </p:nvSpPr>
        <p:spPr>
          <a:xfrm>
            <a:off x="8759952" y="341071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697" name="Shape 52"/>
          <p:cNvSpPr/>
          <p:nvPr/>
        </p:nvSpPr>
        <p:spPr>
          <a:xfrm>
            <a:off x="5394960" y="3611880"/>
            <a:ext cx="3474720" cy="109728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698" name="Shape 53"/>
          <p:cNvSpPr/>
          <p:nvPr/>
        </p:nvSpPr>
        <p:spPr>
          <a:xfrm>
            <a:off x="6812280" y="374904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699" name="Shape 54"/>
          <p:cNvSpPr/>
          <p:nvPr/>
        </p:nvSpPr>
        <p:spPr>
          <a:xfrm>
            <a:off x="6995160" y="383133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700" name="Text 55"/>
          <p:cNvSpPr/>
          <p:nvPr/>
        </p:nvSpPr>
        <p:spPr>
          <a:xfrm>
            <a:off x="5394960" y="432511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Navigation / base template</a:t>
            </a:r>
            <a:endParaRPr lang="en-US" sz="900" dirty="0"/>
          </a:p>
        </p:txBody>
      </p:sp>
      <p:sp>
        <p:nvSpPr>
          <p:cNvPr id="1048701" name="Shape 56"/>
          <p:cNvSpPr/>
          <p:nvPr/>
        </p:nvSpPr>
        <p:spPr>
          <a:xfrm>
            <a:off x="5394960" y="361188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02" name="Shape 57"/>
          <p:cNvSpPr/>
          <p:nvPr/>
        </p:nvSpPr>
        <p:spPr>
          <a:xfrm>
            <a:off x="8759952" y="361188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03" name="Shape 58"/>
          <p:cNvSpPr/>
          <p:nvPr/>
        </p:nvSpPr>
        <p:spPr>
          <a:xfrm>
            <a:off x="5394960" y="459943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04" name="Shape 59"/>
          <p:cNvSpPr/>
          <p:nvPr/>
        </p:nvSpPr>
        <p:spPr>
          <a:xfrm>
            <a:off x="8759952" y="459943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09" name="Shape 1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10" name="Text 2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&amp; 6</a:t>
            </a:r>
            <a:endParaRPr lang="en-US" sz="900" dirty="0"/>
          </a:p>
        </p:txBody>
      </p:sp>
      <p:sp>
        <p:nvSpPr>
          <p:cNvPr id="1048711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Views, Business Logic &amp; Dashboard</a:t>
            </a:r>
            <a:endParaRPr lang="en-US" sz="2600" dirty="0"/>
          </a:p>
        </p:txBody>
      </p:sp>
      <p:sp>
        <p:nvSpPr>
          <p:cNvPr id="1048712" name="Shape 4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713" name="Text 5"/>
          <p:cNvSpPr/>
          <p:nvPr/>
        </p:nvSpPr>
        <p:spPr>
          <a:xfrm>
            <a:off x="411480" y="116128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CRUD Pattern (Phase 5)</a:t>
            </a:r>
            <a:endParaRPr lang="en-US" sz="1000" dirty="0"/>
          </a:p>
        </p:txBody>
      </p:sp>
      <p:sp>
        <p:nvSpPr>
          <p:cNvPr id="1048714" name="Shape 6"/>
          <p:cNvSpPr/>
          <p:nvPr/>
        </p:nvSpPr>
        <p:spPr>
          <a:xfrm>
            <a:off x="384048" y="1481328"/>
            <a:ext cx="54864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15" name="Text 7"/>
          <p:cNvSpPr/>
          <p:nvPr/>
        </p:nvSpPr>
        <p:spPr>
          <a:xfrm>
            <a:off x="384048" y="14813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750" dirty="0"/>
          </a:p>
        </p:txBody>
      </p:sp>
      <p:sp>
        <p:nvSpPr>
          <p:cNvPr id="1048716" name="Text 8"/>
          <p:cNvSpPr/>
          <p:nvPr/>
        </p:nvSpPr>
        <p:spPr>
          <a:xfrm>
            <a:off x="987552" y="148132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records</a:t>
            </a:r>
            <a:endParaRPr lang="en-US" sz="850" dirty="0"/>
          </a:p>
        </p:txBody>
      </p:sp>
      <p:sp>
        <p:nvSpPr>
          <p:cNvPr id="1048717" name="Shape 9"/>
          <p:cNvSpPr/>
          <p:nvPr/>
        </p:nvSpPr>
        <p:spPr>
          <a:xfrm>
            <a:off x="384048" y="1737360"/>
            <a:ext cx="54864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18" name="Text 10"/>
          <p:cNvSpPr/>
          <p:nvPr/>
        </p:nvSpPr>
        <p:spPr>
          <a:xfrm>
            <a:off x="384048" y="17373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</a:t>
            </a:r>
            <a:endParaRPr lang="en-US" sz="750" dirty="0"/>
          </a:p>
        </p:txBody>
      </p:sp>
      <p:sp>
        <p:nvSpPr>
          <p:cNvPr id="1048719" name="Text 11"/>
          <p:cNvSpPr/>
          <p:nvPr/>
        </p:nvSpPr>
        <p:spPr>
          <a:xfrm>
            <a:off x="987552" y="173736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single record</a:t>
            </a:r>
            <a:endParaRPr lang="en-US" sz="850" dirty="0"/>
          </a:p>
        </p:txBody>
      </p:sp>
      <p:sp>
        <p:nvSpPr>
          <p:cNvPr id="1048720" name="Shape 12"/>
          <p:cNvSpPr/>
          <p:nvPr/>
        </p:nvSpPr>
        <p:spPr>
          <a:xfrm>
            <a:off x="384048" y="1993392"/>
            <a:ext cx="54864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21" name="Text 13"/>
          <p:cNvSpPr/>
          <p:nvPr/>
        </p:nvSpPr>
        <p:spPr>
          <a:xfrm>
            <a:off x="384048" y="19933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750" dirty="0"/>
          </a:p>
        </p:txBody>
      </p:sp>
      <p:sp>
        <p:nvSpPr>
          <p:cNvPr id="1048722" name="Text 14"/>
          <p:cNvSpPr/>
          <p:nvPr/>
        </p:nvSpPr>
        <p:spPr>
          <a:xfrm>
            <a:off x="987552" y="19933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entry form</a:t>
            </a:r>
            <a:endParaRPr lang="en-US" sz="850" dirty="0"/>
          </a:p>
        </p:txBody>
      </p:sp>
      <p:sp>
        <p:nvSpPr>
          <p:cNvPr id="1048723" name="Shape 15"/>
          <p:cNvSpPr/>
          <p:nvPr/>
        </p:nvSpPr>
        <p:spPr>
          <a:xfrm>
            <a:off x="384048" y="2249424"/>
            <a:ext cx="54864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24" name="Text 16"/>
          <p:cNvSpPr/>
          <p:nvPr/>
        </p:nvSpPr>
        <p:spPr>
          <a:xfrm>
            <a:off x="384048" y="224942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750" dirty="0"/>
          </a:p>
        </p:txBody>
      </p:sp>
      <p:sp>
        <p:nvSpPr>
          <p:cNvPr id="1048725" name="Text 17"/>
          <p:cNvSpPr/>
          <p:nvPr/>
        </p:nvSpPr>
        <p:spPr>
          <a:xfrm>
            <a:off x="987552" y="224942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record</a:t>
            </a:r>
            <a:endParaRPr lang="en-US" sz="850" dirty="0"/>
          </a:p>
        </p:txBody>
      </p:sp>
      <p:sp>
        <p:nvSpPr>
          <p:cNvPr id="1048726" name="Shape 18"/>
          <p:cNvSpPr/>
          <p:nvPr/>
        </p:nvSpPr>
        <p:spPr>
          <a:xfrm>
            <a:off x="384048" y="2505456"/>
            <a:ext cx="54864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27" name="Text 19"/>
          <p:cNvSpPr/>
          <p:nvPr/>
        </p:nvSpPr>
        <p:spPr>
          <a:xfrm>
            <a:off x="384048" y="2505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50" dirty="0"/>
          </a:p>
        </p:txBody>
      </p:sp>
      <p:sp>
        <p:nvSpPr>
          <p:cNvPr id="1048728" name="Text 20"/>
          <p:cNvSpPr/>
          <p:nvPr/>
        </p:nvSpPr>
        <p:spPr>
          <a:xfrm>
            <a:off x="987552" y="250545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record</a:t>
            </a:r>
            <a:endParaRPr lang="en-US" sz="850" dirty="0"/>
          </a:p>
        </p:txBody>
      </p:sp>
      <p:sp>
        <p:nvSpPr>
          <p:cNvPr id="1048729" name="Shape 21"/>
          <p:cNvSpPr/>
          <p:nvPr/>
        </p:nvSpPr>
        <p:spPr>
          <a:xfrm>
            <a:off x="274320" y="2862072"/>
            <a:ext cx="2743200" cy="141732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730" name="Text 22"/>
          <p:cNvSpPr/>
          <p:nvPr/>
        </p:nvSpPr>
        <p:spPr>
          <a:xfrm>
            <a:off x="411480" y="2926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 Stock Deduction</a:t>
            </a:r>
            <a:endParaRPr lang="en-US" sz="1000" dirty="0"/>
          </a:p>
        </p:txBody>
      </p:sp>
      <p:sp>
        <p:nvSpPr>
          <p:cNvPr id="1048731" name="Shape 23"/>
          <p:cNvSpPr/>
          <p:nvPr/>
        </p:nvSpPr>
        <p:spPr>
          <a:xfrm>
            <a:off x="384048" y="3273552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48732" name="Text 24"/>
          <p:cNvSpPr/>
          <p:nvPr/>
        </p:nvSpPr>
        <p:spPr>
          <a:xfrm>
            <a:off x="548640" y="326440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Order saved → line items created</a:t>
            </a:r>
            <a:endParaRPr lang="en-US" sz="850" dirty="0"/>
          </a:p>
        </p:txBody>
      </p:sp>
      <p:sp>
        <p:nvSpPr>
          <p:cNvPr id="1048733" name="Shape 25"/>
          <p:cNvSpPr/>
          <p:nvPr/>
        </p:nvSpPr>
        <p:spPr>
          <a:xfrm>
            <a:off x="384048" y="3511296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48734" name="Text 26"/>
          <p:cNvSpPr/>
          <p:nvPr/>
        </p:nvSpPr>
        <p:spPr>
          <a:xfrm>
            <a:off x="548640" y="350215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Ingredients looked up per product</a:t>
            </a:r>
            <a:endParaRPr lang="en-US" sz="850" dirty="0"/>
          </a:p>
        </p:txBody>
      </p:sp>
      <p:sp>
        <p:nvSpPr>
          <p:cNvPr id="1048735" name="Shape 27"/>
          <p:cNvSpPr/>
          <p:nvPr/>
        </p:nvSpPr>
        <p:spPr>
          <a:xfrm>
            <a:off x="384048" y="374904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48736" name="Text 28"/>
          <p:cNvSpPr/>
          <p:nvPr/>
        </p:nvSpPr>
        <p:spPr>
          <a:xfrm>
            <a:off x="548640" y="373989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Stock quantities auto-reduced</a:t>
            </a:r>
            <a:endParaRPr lang="en-US" sz="850" dirty="0"/>
          </a:p>
        </p:txBody>
      </p:sp>
      <p:sp>
        <p:nvSpPr>
          <p:cNvPr id="1048737" name="Shape 29"/>
          <p:cNvSpPr/>
          <p:nvPr/>
        </p:nvSpPr>
        <p:spPr>
          <a:xfrm>
            <a:off x="384048" y="3986784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48738" name="Text 30"/>
          <p:cNvSpPr/>
          <p:nvPr/>
        </p:nvSpPr>
        <p:spPr>
          <a:xfrm>
            <a:off x="548640" y="397764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Variation_Stock log entry written</a:t>
            </a:r>
            <a:endParaRPr lang="en-US" sz="850" dirty="0"/>
          </a:p>
        </p:txBody>
      </p:sp>
      <p:sp>
        <p:nvSpPr>
          <p:cNvPr id="1048739" name="Shape 31"/>
          <p:cNvSpPr/>
          <p:nvPr/>
        </p:nvSpPr>
        <p:spPr>
          <a:xfrm>
            <a:off x="3200400" y="1097280"/>
            <a:ext cx="1261872" cy="685800"/>
          </a:xfrm>
          <a:prstGeom prst="rect">
            <a:avLst/>
          </a:prstGeom>
          <a:solidFill>
            <a:srgbClr val="1A4A7A"/>
          </a:solidFill>
          <a:ln w="6350">
            <a:solidFill>
              <a:srgbClr val="3A3A6A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48740" name="Text 32"/>
          <p:cNvSpPr/>
          <p:nvPr/>
        </p:nvSpPr>
        <p:spPr>
          <a:xfrm>
            <a:off x="3246120" y="1124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048741" name="Text 33"/>
          <p:cNvSpPr/>
          <p:nvPr/>
        </p:nvSpPr>
        <p:spPr>
          <a:xfrm>
            <a:off x="3602736" y="11247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048742" name="Text 34"/>
          <p:cNvSpPr/>
          <p:nvPr/>
        </p:nvSpPr>
        <p:spPr>
          <a:xfrm>
            <a:off x="3602736" y="14081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value ]</a:t>
            </a:r>
            <a:endParaRPr lang="en-US" sz="1000" dirty="0"/>
          </a:p>
        </p:txBody>
      </p:sp>
      <p:sp>
        <p:nvSpPr>
          <p:cNvPr id="1048743" name="Shape 35"/>
          <p:cNvSpPr/>
          <p:nvPr/>
        </p:nvSpPr>
        <p:spPr>
          <a:xfrm>
            <a:off x="4617720" y="1097280"/>
            <a:ext cx="1261872" cy="685800"/>
          </a:xfrm>
          <a:prstGeom prst="rect">
            <a:avLst/>
          </a:prstGeom>
          <a:solidFill>
            <a:srgbClr val="1A5A3A"/>
          </a:solidFill>
          <a:ln w="6350">
            <a:solidFill>
              <a:srgbClr val="3A3A6A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48744" name="Text 36"/>
          <p:cNvSpPr/>
          <p:nvPr/>
        </p:nvSpPr>
        <p:spPr>
          <a:xfrm>
            <a:off x="4663440" y="1124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048745" name="Text 37"/>
          <p:cNvSpPr/>
          <p:nvPr/>
        </p:nvSpPr>
        <p:spPr>
          <a:xfrm>
            <a:off x="5020056" y="11247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1048746" name="Text 38"/>
          <p:cNvSpPr/>
          <p:nvPr/>
        </p:nvSpPr>
        <p:spPr>
          <a:xfrm>
            <a:off x="5020056" y="14081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value ]</a:t>
            </a:r>
            <a:endParaRPr lang="en-US" sz="1000" dirty="0"/>
          </a:p>
        </p:txBody>
      </p:sp>
      <p:sp>
        <p:nvSpPr>
          <p:cNvPr id="1048747" name="Shape 39"/>
          <p:cNvSpPr/>
          <p:nvPr/>
        </p:nvSpPr>
        <p:spPr>
          <a:xfrm>
            <a:off x="6035040" y="1097280"/>
            <a:ext cx="1261872" cy="685800"/>
          </a:xfrm>
          <a:prstGeom prst="rect">
            <a:avLst/>
          </a:prstGeom>
          <a:solidFill>
            <a:srgbClr val="5A2A1A"/>
          </a:solidFill>
          <a:ln w="6350">
            <a:solidFill>
              <a:srgbClr val="3A3A6A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48748" name="Text 40"/>
          <p:cNvSpPr/>
          <p:nvPr/>
        </p:nvSpPr>
        <p:spPr>
          <a:xfrm>
            <a:off x="6080760" y="1124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048749" name="Text 41"/>
          <p:cNvSpPr/>
          <p:nvPr/>
        </p:nvSpPr>
        <p:spPr>
          <a:xfrm>
            <a:off x="6437376" y="11247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50" dirty="0"/>
          </a:p>
        </p:txBody>
      </p:sp>
      <p:sp>
        <p:nvSpPr>
          <p:cNvPr id="1048750" name="Text 42"/>
          <p:cNvSpPr/>
          <p:nvPr/>
        </p:nvSpPr>
        <p:spPr>
          <a:xfrm>
            <a:off x="6437376" y="14081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value ]</a:t>
            </a:r>
            <a:endParaRPr lang="en-US" sz="1000" dirty="0"/>
          </a:p>
        </p:txBody>
      </p:sp>
      <p:sp>
        <p:nvSpPr>
          <p:cNvPr id="1048751" name="Shape 43"/>
          <p:cNvSpPr/>
          <p:nvPr/>
        </p:nvSpPr>
        <p:spPr>
          <a:xfrm>
            <a:off x="7452360" y="1097280"/>
            <a:ext cx="1261872" cy="685800"/>
          </a:xfrm>
          <a:prstGeom prst="rect">
            <a:avLst/>
          </a:prstGeom>
          <a:solidFill>
            <a:srgbClr val="4A1A5A"/>
          </a:solidFill>
          <a:ln w="6350">
            <a:solidFill>
              <a:srgbClr val="3A3A6A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48752" name="Text 44"/>
          <p:cNvSpPr/>
          <p:nvPr/>
        </p:nvSpPr>
        <p:spPr>
          <a:xfrm>
            <a:off x="7498080" y="1124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048753" name="Text 45"/>
          <p:cNvSpPr/>
          <p:nvPr/>
        </p:nvSpPr>
        <p:spPr>
          <a:xfrm>
            <a:off x="7854696" y="11247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Items</a:t>
            </a:r>
            <a:endParaRPr lang="en-US" sz="850" dirty="0"/>
          </a:p>
        </p:txBody>
      </p:sp>
      <p:sp>
        <p:nvSpPr>
          <p:cNvPr id="1048754" name="Text 46"/>
          <p:cNvSpPr/>
          <p:nvPr/>
        </p:nvSpPr>
        <p:spPr>
          <a:xfrm>
            <a:off x="7854696" y="14081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value ]</a:t>
            </a:r>
            <a:endParaRPr lang="en-US" sz="1000" dirty="0"/>
          </a:p>
        </p:txBody>
      </p:sp>
      <p:sp>
        <p:nvSpPr>
          <p:cNvPr id="1048755" name="Shape 47"/>
          <p:cNvSpPr/>
          <p:nvPr/>
        </p:nvSpPr>
        <p:spPr>
          <a:xfrm>
            <a:off x="3200400" y="1901952"/>
            <a:ext cx="2697480" cy="114300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756" name="Text 48"/>
          <p:cNvSpPr/>
          <p:nvPr/>
        </p:nvSpPr>
        <p:spPr>
          <a:xfrm>
            <a:off x="3337560" y="195681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Chart (Phase 6)</a:t>
            </a:r>
            <a:endParaRPr lang="en-US" sz="1000" dirty="0"/>
          </a:p>
        </p:txBody>
      </p:sp>
      <p:sp>
        <p:nvSpPr>
          <p:cNvPr id="1048757" name="Shape 49"/>
          <p:cNvSpPr/>
          <p:nvPr/>
        </p:nvSpPr>
        <p:spPr>
          <a:xfrm>
            <a:off x="3337560" y="2286000"/>
            <a:ext cx="109728" cy="109728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58" name="Text 50"/>
          <p:cNvSpPr/>
          <p:nvPr/>
        </p:nvSpPr>
        <p:spPr>
          <a:xfrm>
            <a:off x="3502152" y="22768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via CDN — no install</a:t>
            </a:r>
            <a:endParaRPr lang="en-US" sz="850" dirty="0"/>
          </a:p>
        </p:txBody>
      </p:sp>
      <p:sp>
        <p:nvSpPr>
          <p:cNvPr id="1048759" name="Shape 51"/>
          <p:cNvSpPr/>
          <p:nvPr/>
        </p:nvSpPr>
        <p:spPr>
          <a:xfrm>
            <a:off x="3337560" y="2523744"/>
            <a:ext cx="109728" cy="109728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60" name="Text 52"/>
          <p:cNvSpPr/>
          <p:nvPr/>
        </p:nvSpPr>
        <p:spPr>
          <a:xfrm>
            <a:off x="3502152" y="251460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months revenue bar chart</a:t>
            </a:r>
            <a:endParaRPr lang="en-US" sz="850" dirty="0"/>
          </a:p>
        </p:txBody>
      </p:sp>
      <p:sp>
        <p:nvSpPr>
          <p:cNvPr id="1048761" name="Shape 53"/>
          <p:cNvSpPr/>
          <p:nvPr/>
        </p:nvSpPr>
        <p:spPr>
          <a:xfrm>
            <a:off x="3337560" y="2761488"/>
            <a:ext cx="109728" cy="109728"/>
          </a:xfrm>
          <a:prstGeom prst="ellipse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62" name="Text 54"/>
          <p:cNvSpPr/>
          <p:nvPr/>
        </p:nvSpPr>
        <p:spPr>
          <a:xfrm>
            <a:off x="3502152" y="275234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aggregations: Sum, Count, F()</a:t>
            </a:r>
            <a:endParaRPr lang="en-US" sz="850" dirty="0"/>
          </a:p>
        </p:txBody>
      </p:sp>
      <p:sp>
        <p:nvSpPr>
          <p:cNvPr id="1048763" name="Shape 55"/>
          <p:cNvSpPr/>
          <p:nvPr/>
        </p:nvSpPr>
        <p:spPr>
          <a:xfrm>
            <a:off x="3200400" y="3127248"/>
            <a:ext cx="2697480" cy="1152144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764" name="Text 56"/>
          <p:cNvSpPr/>
          <p:nvPr/>
        </p:nvSpPr>
        <p:spPr>
          <a:xfrm>
            <a:off x="3337560" y="318211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7 Modules</a:t>
            </a:r>
            <a:endParaRPr lang="en-US" sz="1000" dirty="0"/>
          </a:p>
        </p:txBody>
      </p:sp>
      <p:sp>
        <p:nvSpPr>
          <p:cNvPr id="1048765" name="Shape 57"/>
          <p:cNvSpPr/>
          <p:nvPr/>
        </p:nvSpPr>
        <p:spPr>
          <a:xfrm>
            <a:off x="3337560" y="349300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66" name="Text 58"/>
          <p:cNvSpPr/>
          <p:nvPr/>
        </p:nvSpPr>
        <p:spPr>
          <a:xfrm>
            <a:off x="3337560" y="349300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1048767" name="Shape 59"/>
          <p:cNvSpPr/>
          <p:nvPr/>
        </p:nvSpPr>
        <p:spPr>
          <a:xfrm>
            <a:off x="4206240" y="349300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68" name="Text 60"/>
          <p:cNvSpPr/>
          <p:nvPr/>
        </p:nvSpPr>
        <p:spPr>
          <a:xfrm>
            <a:off x="4206240" y="349300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50" dirty="0"/>
          </a:p>
        </p:txBody>
      </p:sp>
      <p:sp>
        <p:nvSpPr>
          <p:cNvPr id="1048769" name="Shape 61"/>
          <p:cNvSpPr/>
          <p:nvPr/>
        </p:nvSpPr>
        <p:spPr>
          <a:xfrm>
            <a:off x="5074920" y="349300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70" name="Text 62"/>
          <p:cNvSpPr/>
          <p:nvPr/>
        </p:nvSpPr>
        <p:spPr>
          <a:xfrm>
            <a:off x="5074920" y="349300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1048771" name="Shape 63"/>
          <p:cNvSpPr/>
          <p:nvPr/>
        </p:nvSpPr>
        <p:spPr>
          <a:xfrm>
            <a:off x="3337560" y="376732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72" name="Text 64"/>
          <p:cNvSpPr/>
          <p:nvPr/>
        </p:nvSpPr>
        <p:spPr>
          <a:xfrm>
            <a:off x="3337560" y="376732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750" dirty="0"/>
          </a:p>
        </p:txBody>
      </p:sp>
      <p:sp>
        <p:nvSpPr>
          <p:cNvPr id="1048773" name="Shape 65"/>
          <p:cNvSpPr/>
          <p:nvPr/>
        </p:nvSpPr>
        <p:spPr>
          <a:xfrm>
            <a:off x="4206240" y="376732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74" name="Text 66"/>
          <p:cNvSpPr/>
          <p:nvPr/>
        </p:nvSpPr>
        <p:spPr>
          <a:xfrm>
            <a:off x="4206240" y="376732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1048775" name="Shape 67"/>
          <p:cNvSpPr/>
          <p:nvPr/>
        </p:nvSpPr>
        <p:spPr>
          <a:xfrm>
            <a:off x="5074920" y="376732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76" name="Text 68"/>
          <p:cNvSpPr/>
          <p:nvPr/>
        </p:nvSpPr>
        <p:spPr>
          <a:xfrm>
            <a:off x="5074920" y="376732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50" dirty="0"/>
          </a:p>
        </p:txBody>
      </p:sp>
      <p:sp>
        <p:nvSpPr>
          <p:cNvPr id="1048777" name="Shape 69"/>
          <p:cNvSpPr/>
          <p:nvPr/>
        </p:nvSpPr>
        <p:spPr>
          <a:xfrm>
            <a:off x="5943600" y="3767328"/>
            <a:ext cx="804672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778" name="Text 70"/>
          <p:cNvSpPr/>
          <p:nvPr/>
        </p:nvSpPr>
        <p:spPr>
          <a:xfrm>
            <a:off x="5943600" y="376732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1048779" name="Shape 71"/>
          <p:cNvSpPr/>
          <p:nvPr/>
        </p:nvSpPr>
        <p:spPr>
          <a:xfrm>
            <a:off x="6080760" y="1097280"/>
            <a:ext cx="2788920" cy="109728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780" name="Shape 72"/>
          <p:cNvSpPr/>
          <p:nvPr/>
        </p:nvSpPr>
        <p:spPr>
          <a:xfrm>
            <a:off x="7155180" y="123444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781" name="Shape 73"/>
          <p:cNvSpPr/>
          <p:nvPr/>
        </p:nvSpPr>
        <p:spPr>
          <a:xfrm>
            <a:off x="7338060" y="131673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782" name="Text 74"/>
          <p:cNvSpPr/>
          <p:nvPr/>
        </p:nvSpPr>
        <p:spPr>
          <a:xfrm>
            <a:off x="6080760" y="181051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Order list / create form</a:t>
            </a:r>
            <a:endParaRPr lang="en-US" sz="900" dirty="0"/>
          </a:p>
        </p:txBody>
      </p:sp>
      <p:sp>
        <p:nvSpPr>
          <p:cNvPr id="1048783" name="Shape 75"/>
          <p:cNvSpPr/>
          <p:nvPr/>
        </p:nvSpPr>
        <p:spPr>
          <a:xfrm>
            <a:off x="6080760" y="109728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84" name="Shape 76"/>
          <p:cNvSpPr/>
          <p:nvPr/>
        </p:nvSpPr>
        <p:spPr>
          <a:xfrm>
            <a:off x="8759952" y="109728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85" name="Shape 77"/>
          <p:cNvSpPr/>
          <p:nvPr/>
        </p:nvSpPr>
        <p:spPr>
          <a:xfrm>
            <a:off x="6080760" y="208483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86" name="Shape 78"/>
          <p:cNvSpPr/>
          <p:nvPr/>
        </p:nvSpPr>
        <p:spPr>
          <a:xfrm>
            <a:off x="8759952" y="208483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87" name="Shape 79"/>
          <p:cNvSpPr/>
          <p:nvPr/>
        </p:nvSpPr>
        <p:spPr>
          <a:xfrm>
            <a:off x="6080760" y="2286000"/>
            <a:ext cx="2788920" cy="96012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788" name="Shape 80"/>
          <p:cNvSpPr/>
          <p:nvPr/>
        </p:nvSpPr>
        <p:spPr>
          <a:xfrm>
            <a:off x="7155180" y="235458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789" name="Shape 81"/>
          <p:cNvSpPr/>
          <p:nvPr/>
        </p:nvSpPr>
        <p:spPr>
          <a:xfrm>
            <a:off x="7338060" y="243687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790" name="Text 82"/>
          <p:cNvSpPr/>
          <p:nvPr/>
        </p:nvSpPr>
        <p:spPr>
          <a:xfrm>
            <a:off x="6080760" y="293065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Invoice view</a:t>
            </a:r>
            <a:endParaRPr lang="en-US" sz="900" dirty="0"/>
          </a:p>
        </p:txBody>
      </p:sp>
      <p:sp>
        <p:nvSpPr>
          <p:cNvPr id="1048791" name="Shape 83"/>
          <p:cNvSpPr/>
          <p:nvPr/>
        </p:nvSpPr>
        <p:spPr>
          <a:xfrm>
            <a:off x="6080760" y="228600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92" name="Shape 84"/>
          <p:cNvSpPr/>
          <p:nvPr/>
        </p:nvSpPr>
        <p:spPr>
          <a:xfrm>
            <a:off x="8759952" y="228600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93" name="Shape 85"/>
          <p:cNvSpPr/>
          <p:nvPr/>
        </p:nvSpPr>
        <p:spPr>
          <a:xfrm>
            <a:off x="6080760" y="31363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94" name="Shape 86"/>
          <p:cNvSpPr/>
          <p:nvPr/>
        </p:nvSpPr>
        <p:spPr>
          <a:xfrm>
            <a:off x="8759952" y="31363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795" name="Shape 87"/>
          <p:cNvSpPr/>
          <p:nvPr/>
        </p:nvSpPr>
        <p:spPr>
          <a:xfrm>
            <a:off x="6080760" y="3337560"/>
            <a:ext cx="2788920" cy="100584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796" name="Shape 88"/>
          <p:cNvSpPr/>
          <p:nvPr/>
        </p:nvSpPr>
        <p:spPr>
          <a:xfrm>
            <a:off x="7155180" y="342900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797" name="Shape 89"/>
          <p:cNvSpPr/>
          <p:nvPr/>
        </p:nvSpPr>
        <p:spPr>
          <a:xfrm>
            <a:off x="7338060" y="351129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798" name="Text 90"/>
          <p:cNvSpPr/>
          <p:nvPr/>
        </p:nvSpPr>
        <p:spPr>
          <a:xfrm>
            <a:off x="6080760" y="40050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Dashboard — KPI + chart</a:t>
            </a:r>
            <a:endParaRPr lang="en-US" sz="900" dirty="0"/>
          </a:p>
        </p:txBody>
      </p:sp>
      <p:sp>
        <p:nvSpPr>
          <p:cNvPr id="1048799" name="Shape 91"/>
          <p:cNvSpPr/>
          <p:nvPr/>
        </p:nvSpPr>
        <p:spPr>
          <a:xfrm>
            <a:off x="6080760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00" name="Shape 92"/>
          <p:cNvSpPr/>
          <p:nvPr/>
        </p:nvSpPr>
        <p:spPr>
          <a:xfrm>
            <a:off x="8759952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01" name="Shape 93"/>
          <p:cNvSpPr/>
          <p:nvPr/>
        </p:nvSpPr>
        <p:spPr>
          <a:xfrm>
            <a:off x="6080760" y="423367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02" name="Shape 94"/>
          <p:cNvSpPr/>
          <p:nvPr/>
        </p:nvSpPr>
        <p:spPr>
          <a:xfrm>
            <a:off x="8759952" y="423367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pic>
        <p:nvPicPr>
          <p:cNvPr id="2097155" name="Screenshot_2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818388"/>
            <a:ext cx="2788920" cy="1376172"/>
          </a:xfrm>
          <a:prstGeom prst="rect">
            <a:avLst/>
          </a:prstGeom>
        </p:spPr>
      </p:pic>
      <p:pic>
        <p:nvPicPr>
          <p:cNvPr id="2097156" name="Screenshot_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86000"/>
            <a:ext cx="2788920" cy="1335024"/>
          </a:xfrm>
          <a:prstGeom prst="rect">
            <a:avLst/>
          </a:prstGeom>
        </p:spPr>
      </p:pic>
      <p:pic>
        <p:nvPicPr>
          <p:cNvPr id="2097157" name="Screenshot_2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36" y="4059936"/>
            <a:ext cx="3658144" cy="3791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07" name="Shape 1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08" name="Text 2"/>
          <p:cNvSpPr/>
          <p:nvPr/>
        </p:nvSpPr>
        <p:spPr>
          <a:xfrm>
            <a:off x="274320" y="1828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&amp; 8</a:t>
            </a:r>
            <a:endParaRPr lang="en-US" sz="900" dirty="0"/>
          </a:p>
        </p:txBody>
      </p:sp>
      <p:sp>
        <p:nvSpPr>
          <p:cNvPr id="1048809" name="Text 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Security, Configuration &amp; Submission</a:t>
            </a:r>
            <a:endParaRPr lang="en-US" sz="2600" dirty="0"/>
          </a:p>
        </p:txBody>
      </p:sp>
      <p:sp>
        <p:nvSpPr>
          <p:cNvPr id="1048810" name="Shape 4"/>
          <p:cNvSpPr/>
          <p:nvPr/>
        </p:nvSpPr>
        <p:spPr>
          <a:xfrm>
            <a:off x="274320" y="1097280"/>
            <a:ext cx="4114800" cy="214884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811" name="Shape 5"/>
          <p:cNvSpPr/>
          <p:nvPr/>
        </p:nvSpPr>
        <p:spPr>
          <a:xfrm>
            <a:off x="274320" y="1097280"/>
            <a:ext cx="4114800" cy="329184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048812" name="Text 6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Checklist (Phase 7)</a:t>
            </a:r>
            <a:endParaRPr lang="en-US" sz="1100" dirty="0"/>
          </a:p>
        </p:txBody>
      </p:sp>
      <p:sp>
        <p:nvSpPr>
          <p:cNvPr id="1048813" name="Text 7"/>
          <p:cNvSpPr/>
          <p:nvPr/>
        </p:nvSpPr>
        <p:spPr>
          <a:xfrm>
            <a:off x="384048" y="150876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14" name="Text 8"/>
          <p:cNvSpPr/>
          <p:nvPr/>
        </p:nvSpPr>
        <p:spPr>
          <a:xfrm>
            <a:off x="658368" y="150876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middleware enabled (CsrfViewMiddleware)</a:t>
            </a:r>
            <a:endParaRPr lang="en-US" sz="900" dirty="0"/>
          </a:p>
        </p:txBody>
      </p:sp>
      <p:sp>
        <p:nvSpPr>
          <p:cNvPr id="1048815" name="Text 9"/>
          <p:cNvSpPr/>
          <p:nvPr/>
        </p:nvSpPr>
        <p:spPr>
          <a:xfrm>
            <a:off x="384048" y="1755648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16" name="Text 10"/>
          <p:cNvSpPr/>
          <p:nvPr/>
        </p:nvSpPr>
        <p:spPr>
          <a:xfrm>
            <a:off x="658368" y="1755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 on all views</a:t>
            </a:r>
            <a:endParaRPr lang="en-US" sz="900" dirty="0"/>
          </a:p>
        </p:txBody>
      </p:sp>
      <p:sp>
        <p:nvSpPr>
          <p:cNvPr id="1048817" name="Text 11"/>
          <p:cNvSpPr/>
          <p:nvPr/>
        </p:nvSpPr>
        <p:spPr>
          <a:xfrm>
            <a:off x="384048" y="200253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18" name="Text 12"/>
          <p:cNvSpPr/>
          <p:nvPr/>
        </p:nvSpPr>
        <p:spPr>
          <a:xfrm>
            <a:off x="658368" y="200253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@role_required for sensitive operations</a:t>
            </a:r>
            <a:endParaRPr lang="en-US" sz="900" dirty="0"/>
          </a:p>
        </p:txBody>
      </p:sp>
      <p:sp>
        <p:nvSpPr>
          <p:cNvPr id="1048819" name="Text 13"/>
          <p:cNvSpPr/>
          <p:nvPr/>
        </p:nvSpPr>
        <p:spPr>
          <a:xfrm>
            <a:off x="384048" y="22494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20" name="Text 14"/>
          <p:cNvSpPr/>
          <p:nvPr/>
        </p:nvSpPr>
        <p:spPr>
          <a:xfrm>
            <a:off x="658368" y="224942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SESSION_COOKIE_HTTPONLY = True</a:t>
            </a:r>
            <a:endParaRPr lang="en-US" sz="900" dirty="0"/>
          </a:p>
        </p:txBody>
      </p:sp>
      <p:sp>
        <p:nvSpPr>
          <p:cNvPr id="1048821" name="Text 15"/>
          <p:cNvSpPr/>
          <p:nvPr/>
        </p:nvSpPr>
        <p:spPr>
          <a:xfrm>
            <a:off x="384048" y="2496312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22" name="Text 16"/>
          <p:cNvSpPr/>
          <p:nvPr/>
        </p:nvSpPr>
        <p:spPr>
          <a:xfrm>
            <a:off x="658368" y="249631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SQL — use Django ORM only</a:t>
            </a:r>
            <a:endParaRPr lang="en-US" sz="900" dirty="0"/>
          </a:p>
        </p:txBody>
      </p:sp>
      <p:sp>
        <p:nvSpPr>
          <p:cNvPr id="1048823" name="Text 17"/>
          <p:cNvSpPr/>
          <p:nvPr/>
        </p:nvSpPr>
        <p:spPr>
          <a:xfrm>
            <a:off x="384048" y="274320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24" name="Text 18"/>
          <p:cNvSpPr/>
          <p:nvPr/>
        </p:nvSpPr>
        <p:spPr>
          <a:xfrm>
            <a:off x="658368" y="2743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ActionLog model for critical actions</a:t>
            </a:r>
            <a:endParaRPr lang="en-US" sz="900" dirty="0"/>
          </a:p>
        </p:txBody>
      </p:sp>
      <p:sp>
        <p:nvSpPr>
          <p:cNvPr id="1048825" name="Text 19"/>
          <p:cNvSpPr/>
          <p:nvPr/>
        </p:nvSpPr>
        <p:spPr>
          <a:xfrm>
            <a:off x="384048" y="2990088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048826" name="Text 20"/>
          <p:cNvSpPr/>
          <p:nvPr/>
        </p:nvSpPr>
        <p:spPr>
          <a:xfrm>
            <a:off x="658368" y="299008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 for secrets (python-decouple)</a:t>
            </a:r>
            <a:endParaRPr lang="en-US" sz="900" dirty="0"/>
          </a:p>
        </p:txBody>
      </p:sp>
      <p:sp>
        <p:nvSpPr>
          <p:cNvPr id="1048827" name="Shape 21"/>
          <p:cNvSpPr/>
          <p:nvPr/>
        </p:nvSpPr>
        <p:spPr>
          <a:xfrm>
            <a:off x="4617720" y="1097280"/>
            <a:ext cx="4251960" cy="2148840"/>
          </a:xfrm>
          <a:prstGeom prst="rect">
            <a:avLst/>
          </a:prstGeom>
          <a:solidFill>
            <a:srgbClr val="242450"/>
          </a:solidFill>
          <a:ln w="6350">
            <a:solidFill>
              <a:srgbClr val="3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8828" name="Shape 22"/>
          <p:cNvSpPr/>
          <p:nvPr/>
        </p:nvSpPr>
        <p:spPr>
          <a:xfrm>
            <a:off x="4617720" y="1097280"/>
            <a:ext cx="42519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829" name="Text 23"/>
          <p:cNvSpPr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Deliverables (Phase 8)</a:t>
            </a:r>
            <a:endParaRPr lang="en-US" sz="1100" dirty="0"/>
          </a:p>
        </p:txBody>
      </p:sp>
      <p:sp>
        <p:nvSpPr>
          <p:cNvPr id="1048830" name="Shape 24"/>
          <p:cNvSpPr/>
          <p:nvPr/>
        </p:nvSpPr>
        <p:spPr>
          <a:xfrm>
            <a:off x="4709160" y="1527048"/>
            <a:ext cx="685800" cy="237744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31" name="Text 25"/>
          <p:cNvSpPr/>
          <p:nvPr/>
        </p:nvSpPr>
        <p:spPr>
          <a:xfrm>
            <a:off x="4709160" y="152704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1048832" name="Text 26"/>
          <p:cNvSpPr/>
          <p:nvPr/>
        </p:nvSpPr>
        <p:spPr>
          <a:xfrm>
            <a:off x="5449824" y="1527048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requirements.txt + README</a:t>
            </a:r>
            <a:endParaRPr lang="en-US" sz="900" dirty="0"/>
          </a:p>
        </p:txBody>
      </p:sp>
      <p:sp>
        <p:nvSpPr>
          <p:cNvPr id="1048833" name="Shape 27"/>
          <p:cNvSpPr/>
          <p:nvPr/>
        </p:nvSpPr>
        <p:spPr>
          <a:xfrm>
            <a:off x="4709160" y="1856232"/>
            <a:ext cx="685800" cy="237744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34" name="Text 28"/>
          <p:cNvSpPr/>
          <p:nvPr/>
        </p:nvSpPr>
        <p:spPr>
          <a:xfrm>
            <a:off x="4709160" y="185623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048835" name="Text 29"/>
          <p:cNvSpPr/>
          <p:nvPr/>
        </p:nvSpPr>
        <p:spPr>
          <a:xfrm>
            <a:off x="5449824" y="185623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Base_Restaurant.sql in the repo</a:t>
            </a:r>
            <a:endParaRPr lang="en-US" sz="900" dirty="0"/>
          </a:p>
        </p:txBody>
      </p:sp>
      <p:sp>
        <p:nvSpPr>
          <p:cNvPr id="1048836" name="Shape 30"/>
          <p:cNvSpPr/>
          <p:nvPr/>
        </p:nvSpPr>
        <p:spPr>
          <a:xfrm>
            <a:off x="4709160" y="2185416"/>
            <a:ext cx="685800" cy="237744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37" name="Text 31"/>
          <p:cNvSpPr/>
          <p:nvPr/>
        </p:nvSpPr>
        <p:spPr>
          <a:xfrm>
            <a:off x="4709160" y="218541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1048838" name="Text 32"/>
          <p:cNvSpPr/>
          <p:nvPr/>
        </p:nvSpPr>
        <p:spPr>
          <a:xfrm>
            <a:off x="5449824" y="218541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pages: architecture + ER + screenshots</a:t>
            </a:r>
            <a:endParaRPr lang="en-US" sz="900" dirty="0"/>
          </a:p>
        </p:txBody>
      </p:sp>
      <p:sp>
        <p:nvSpPr>
          <p:cNvPr id="1048839" name="Shape 33"/>
          <p:cNvSpPr/>
          <p:nvPr/>
        </p:nvSpPr>
        <p:spPr>
          <a:xfrm>
            <a:off x="4709160" y="2514600"/>
            <a:ext cx="685800" cy="237744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40" name="Text 34"/>
          <p:cNvSpPr/>
          <p:nvPr/>
        </p:nvSpPr>
        <p:spPr>
          <a:xfrm>
            <a:off x="4709160" y="251460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1048841" name="Text 35"/>
          <p:cNvSpPr/>
          <p:nvPr/>
        </p:nvSpPr>
        <p:spPr>
          <a:xfrm>
            <a:off x="5449824" y="2514600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per role (screenshots)</a:t>
            </a:r>
            <a:endParaRPr lang="en-US" sz="900" dirty="0"/>
          </a:p>
        </p:txBody>
      </p:sp>
      <p:sp>
        <p:nvSpPr>
          <p:cNvPr id="1048842" name="Shape 36"/>
          <p:cNvSpPr/>
          <p:nvPr/>
        </p:nvSpPr>
        <p:spPr>
          <a:xfrm>
            <a:off x="4709160" y="2843784"/>
            <a:ext cx="685800" cy="237744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43" name="Text 37"/>
          <p:cNvSpPr/>
          <p:nvPr/>
        </p:nvSpPr>
        <p:spPr>
          <a:xfrm>
            <a:off x="4709160" y="284378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048844" name="Text 38"/>
          <p:cNvSpPr/>
          <p:nvPr/>
        </p:nvSpPr>
        <p:spPr>
          <a:xfrm>
            <a:off x="5449824" y="2843784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login → order → stock → dashboard</a:t>
            </a:r>
            <a:endParaRPr lang="en-US" sz="900" dirty="0"/>
          </a:p>
        </p:txBody>
      </p:sp>
      <p:sp>
        <p:nvSpPr>
          <p:cNvPr id="1048845" name="Shape 39"/>
          <p:cNvSpPr/>
          <p:nvPr/>
        </p:nvSpPr>
        <p:spPr>
          <a:xfrm>
            <a:off x="274320" y="3337560"/>
            <a:ext cx="2743200" cy="150876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846" name="Shape 40"/>
          <p:cNvSpPr/>
          <p:nvPr/>
        </p:nvSpPr>
        <p:spPr>
          <a:xfrm>
            <a:off x="1325880" y="368046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847" name="Shape 41"/>
          <p:cNvSpPr/>
          <p:nvPr/>
        </p:nvSpPr>
        <p:spPr>
          <a:xfrm>
            <a:off x="1508760" y="376275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848" name="Text 42"/>
          <p:cNvSpPr/>
          <p:nvPr/>
        </p:nvSpPr>
        <p:spPr>
          <a:xfrm>
            <a:off x="274320" y="42565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Admin panel / action logs</a:t>
            </a:r>
            <a:endParaRPr lang="en-US" sz="900" dirty="0"/>
          </a:p>
        </p:txBody>
      </p:sp>
      <p:sp>
        <p:nvSpPr>
          <p:cNvPr id="1048849" name="Shape 43"/>
          <p:cNvSpPr/>
          <p:nvPr/>
        </p:nvSpPr>
        <p:spPr>
          <a:xfrm>
            <a:off x="274320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50" name="Shape 44"/>
          <p:cNvSpPr/>
          <p:nvPr/>
        </p:nvSpPr>
        <p:spPr>
          <a:xfrm>
            <a:off x="2907792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51" name="Shape 45"/>
          <p:cNvSpPr/>
          <p:nvPr/>
        </p:nvSpPr>
        <p:spPr>
          <a:xfrm>
            <a:off x="274320" y="47365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52" name="Shape 46"/>
          <p:cNvSpPr/>
          <p:nvPr/>
        </p:nvSpPr>
        <p:spPr>
          <a:xfrm>
            <a:off x="2907792" y="47365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53" name="Shape 47"/>
          <p:cNvSpPr/>
          <p:nvPr/>
        </p:nvSpPr>
        <p:spPr>
          <a:xfrm>
            <a:off x="3200400" y="3337560"/>
            <a:ext cx="2743200" cy="150876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854" name="Shape 48"/>
          <p:cNvSpPr/>
          <p:nvPr/>
        </p:nvSpPr>
        <p:spPr>
          <a:xfrm>
            <a:off x="4251960" y="368046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855" name="Shape 49"/>
          <p:cNvSpPr/>
          <p:nvPr/>
        </p:nvSpPr>
        <p:spPr>
          <a:xfrm>
            <a:off x="4434840" y="376275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856" name="Text 50"/>
          <p:cNvSpPr/>
          <p:nvPr/>
        </p:nvSpPr>
        <p:spPr>
          <a:xfrm>
            <a:off x="3200400" y="42565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Role-restricted view / permission denied</a:t>
            </a:r>
            <a:endParaRPr lang="en-US" sz="900" dirty="0"/>
          </a:p>
        </p:txBody>
      </p:sp>
      <p:sp>
        <p:nvSpPr>
          <p:cNvPr id="1048857" name="Shape 51"/>
          <p:cNvSpPr/>
          <p:nvPr/>
        </p:nvSpPr>
        <p:spPr>
          <a:xfrm>
            <a:off x="3200400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58" name="Shape 52"/>
          <p:cNvSpPr/>
          <p:nvPr/>
        </p:nvSpPr>
        <p:spPr>
          <a:xfrm>
            <a:off x="5833872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59" name="Shape 53"/>
          <p:cNvSpPr/>
          <p:nvPr/>
        </p:nvSpPr>
        <p:spPr>
          <a:xfrm>
            <a:off x="3200400" y="47365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60" name="Shape 54"/>
          <p:cNvSpPr/>
          <p:nvPr/>
        </p:nvSpPr>
        <p:spPr>
          <a:xfrm>
            <a:off x="5833872" y="47365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61" name="Shape 55"/>
          <p:cNvSpPr/>
          <p:nvPr/>
        </p:nvSpPr>
        <p:spPr>
          <a:xfrm>
            <a:off x="6126480" y="3337560"/>
            <a:ext cx="2743200" cy="1508760"/>
          </a:xfrm>
          <a:prstGeom prst="rect">
            <a:avLst/>
          </a:prstGeom>
          <a:solidFill>
            <a:srgbClr val="2A2A4A"/>
          </a:solidFill>
          <a:ln w="19050">
            <a:solidFill>
              <a:srgbClr val="E8642A"/>
            </a:solidFill>
            <a:prstDash val="dash"/>
          </a:ln>
        </p:spPr>
      </p:sp>
      <p:sp>
        <p:nvSpPr>
          <p:cNvPr id="1048862" name="Shape 56"/>
          <p:cNvSpPr/>
          <p:nvPr/>
        </p:nvSpPr>
        <p:spPr>
          <a:xfrm>
            <a:off x="7178040" y="3680460"/>
            <a:ext cx="640080" cy="457200"/>
          </a:xfrm>
          <a:prstGeom prst="rect">
            <a:avLst/>
          </a:prstGeom>
          <a:solidFill>
            <a:srgbClr val="3A3A5C"/>
          </a:solidFill>
          <a:ln w="12700">
            <a:solidFill>
              <a:srgbClr val="5A5A7C"/>
            </a:solidFill>
            <a:prstDash val="solid"/>
          </a:ln>
        </p:spPr>
      </p:sp>
      <p:sp>
        <p:nvSpPr>
          <p:cNvPr id="1048863" name="Shape 57"/>
          <p:cNvSpPr/>
          <p:nvPr/>
        </p:nvSpPr>
        <p:spPr>
          <a:xfrm>
            <a:off x="7360920" y="3762756"/>
            <a:ext cx="274320" cy="274320"/>
          </a:xfrm>
          <a:prstGeom prst="ellipse">
            <a:avLst/>
          </a:prstGeom>
          <a:solidFill>
            <a:srgbClr val="5A5A7C"/>
          </a:solidFill>
          <a:ln w="6350">
            <a:solidFill>
              <a:srgbClr val="7A7A9C"/>
            </a:solidFill>
            <a:prstDash val="solid"/>
          </a:ln>
        </p:spPr>
      </p:sp>
      <p:sp>
        <p:nvSpPr>
          <p:cNvPr id="1048864" name="Text 58"/>
          <p:cNvSpPr/>
          <p:nvPr/>
        </p:nvSpPr>
        <p:spPr>
          <a:xfrm>
            <a:off x="6126480" y="42565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GitHub repo / README</a:t>
            </a:r>
            <a:endParaRPr lang="en-US" sz="900" dirty="0"/>
          </a:p>
        </p:txBody>
      </p:sp>
      <p:sp>
        <p:nvSpPr>
          <p:cNvPr id="1048865" name="Shape 59"/>
          <p:cNvSpPr/>
          <p:nvPr/>
        </p:nvSpPr>
        <p:spPr>
          <a:xfrm>
            <a:off x="6126480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66" name="Shape 60"/>
          <p:cNvSpPr/>
          <p:nvPr/>
        </p:nvSpPr>
        <p:spPr>
          <a:xfrm>
            <a:off x="8759952" y="3337560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67" name="Shape 61"/>
          <p:cNvSpPr/>
          <p:nvPr/>
        </p:nvSpPr>
        <p:spPr>
          <a:xfrm>
            <a:off x="6126480" y="47365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68" name="Shape 62"/>
          <p:cNvSpPr/>
          <p:nvPr/>
        </p:nvSpPr>
        <p:spPr>
          <a:xfrm>
            <a:off x="8759952" y="4736592"/>
            <a:ext cx="109728" cy="109728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pic>
        <p:nvPicPr>
          <p:cNvPr id="2097158" name="Screenshot_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37560"/>
            <a:ext cx="2743200" cy="1710690"/>
          </a:xfrm>
          <a:prstGeom prst="rect">
            <a:avLst/>
          </a:prstGeom>
        </p:spPr>
      </p:pic>
      <p:pic>
        <p:nvPicPr>
          <p:cNvPr id="2097159" name="Screenshot_2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337559"/>
            <a:ext cx="2743200" cy="1709929"/>
          </a:xfrm>
          <a:prstGeom prst="rect">
            <a:avLst/>
          </a:prstGeom>
        </p:spPr>
      </p:pic>
      <p:pic>
        <p:nvPicPr>
          <p:cNvPr id="2097160" name="Screenshot_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337560"/>
            <a:ext cx="2743200" cy="17106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7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48874" name="Shape 2"/>
          <p:cNvSpPr/>
          <p:nvPr/>
        </p:nvSpPr>
        <p:spPr>
          <a:xfrm>
            <a:off x="6858000" y="-548640"/>
            <a:ext cx="2011680" cy="2011680"/>
          </a:xfrm>
          <a:prstGeom prst="ellipse">
            <a:avLst/>
          </a:prstGeom>
          <a:solidFill>
            <a:srgbClr val="E8642A">
              <a:alpha val="20000"/>
            </a:srgbClr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75" name="Shape 3"/>
          <p:cNvSpPr/>
          <p:nvPr/>
        </p:nvSpPr>
        <p:spPr>
          <a:xfrm>
            <a:off x="6492240" y="3474720"/>
            <a:ext cx="1371600" cy="1371600"/>
          </a:xfrm>
          <a:prstGeom prst="ellipse">
            <a:avLst/>
          </a:prstGeom>
          <a:solidFill>
            <a:srgbClr val="E8642A">
              <a:alpha val="30000"/>
            </a:srgbClr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876" name="Text 4"/>
          <p:cNvSpPr/>
          <p:nvPr/>
        </p:nvSpPr>
        <p:spPr>
          <a:xfrm>
            <a:off x="640080" y="320040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64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048877" name="Text 5"/>
          <p:cNvSpPr/>
          <p:nvPr/>
        </p:nvSpPr>
        <p:spPr>
          <a:xfrm>
            <a:off x="640080" y="896112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Production-Ready Restaurant System</a:t>
            </a:r>
            <a:endParaRPr lang="en-US" sz="1300" dirty="0"/>
          </a:p>
        </p:txBody>
      </p:sp>
      <p:sp>
        <p:nvSpPr>
          <p:cNvPr id="1048878" name="Text 6"/>
          <p:cNvSpPr/>
          <p:nvPr/>
        </p:nvSpPr>
        <p:spPr>
          <a:xfrm>
            <a:off x="640080" y="1353312"/>
            <a:ext cx="5760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application brings together 8 development phases into one cohesive platform — covering everything from database design to a role-protected web interface, real-time inventory management, financial reporting, and secure deployment. Built on Django + MySQL with an MVT architecture, it delivers a scalable solution ready for real restaurant operations.</a:t>
            </a:r>
            <a:endParaRPr lang="en-US" sz="1050" dirty="0"/>
          </a:p>
        </p:txBody>
      </p:sp>
      <p:sp>
        <p:nvSpPr>
          <p:cNvPr id="1048879" name="Shape 7"/>
          <p:cNvSpPr/>
          <p:nvPr/>
        </p:nvSpPr>
        <p:spPr>
          <a:xfrm>
            <a:off x="640080" y="2286000"/>
            <a:ext cx="2651760" cy="713232"/>
          </a:xfrm>
          <a:prstGeom prst="rect">
            <a:avLst/>
          </a:prstGeom>
          <a:solidFill>
            <a:srgbClr val="242450"/>
          </a:solidFill>
          <a:ln w="9525">
            <a:solidFill>
              <a:srgbClr val="E864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8880" name="Text 8"/>
          <p:cNvSpPr/>
          <p:nvPr/>
        </p:nvSpPr>
        <p:spPr>
          <a:xfrm>
            <a:off x="713232" y="23591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048881" name="Text 9"/>
          <p:cNvSpPr/>
          <p:nvPr/>
        </p:nvSpPr>
        <p:spPr>
          <a:xfrm>
            <a:off x="1115568" y="2350008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SQL Tables</a:t>
            </a:r>
            <a:endParaRPr lang="en-US" sz="1000" dirty="0"/>
          </a:p>
        </p:txBody>
      </p:sp>
      <p:sp>
        <p:nvSpPr>
          <p:cNvPr id="1048882" name="Text 10"/>
          <p:cNvSpPr/>
          <p:nvPr/>
        </p:nvSpPr>
        <p:spPr>
          <a:xfrm>
            <a:off x="1115568" y="2615184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mapped as Django models with managed = False</a:t>
            </a:r>
            <a:endParaRPr lang="en-US" sz="800" dirty="0"/>
          </a:p>
        </p:txBody>
      </p:sp>
      <p:sp>
        <p:nvSpPr>
          <p:cNvPr id="1048883" name="Shape 11"/>
          <p:cNvSpPr/>
          <p:nvPr/>
        </p:nvSpPr>
        <p:spPr>
          <a:xfrm>
            <a:off x="3474720" y="2286000"/>
            <a:ext cx="2651760" cy="713232"/>
          </a:xfrm>
          <a:prstGeom prst="rect">
            <a:avLst/>
          </a:prstGeom>
          <a:solidFill>
            <a:srgbClr val="242450"/>
          </a:solidFill>
          <a:ln w="9525">
            <a:solidFill>
              <a:srgbClr val="3A6A5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8884" name="Text 12"/>
          <p:cNvSpPr/>
          <p:nvPr/>
        </p:nvSpPr>
        <p:spPr>
          <a:xfrm>
            <a:off x="3547872" y="23591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048885" name="Text 13"/>
          <p:cNvSpPr/>
          <p:nvPr/>
        </p:nvSpPr>
        <p:spPr>
          <a:xfrm>
            <a:off x="3950208" y="2350008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User Roles</a:t>
            </a:r>
            <a:endParaRPr lang="en-US" sz="1000" dirty="0"/>
          </a:p>
        </p:txBody>
      </p:sp>
      <p:sp>
        <p:nvSpPr>
          <p:cNvPr id="1048886" name="Text 14"/>
          <p:cNvSpPr/>
          <p:nvPr/>
        </p:nvSpPr>
        <p:spPr>
          <a:xfrm>
            <a:off x="3950208" y="2615184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via custom decorators</a:t>
            </a:r>
            <a:endParaRPr lang="en-US" sz="800" dirty="0"/>
          </a:p>
        </p:txBody>
      </p:sp>
      <p:sp>
        <p:nvSpPr>
          <p:cNvPr id="1048887" name="Shape 15"/>
          <p:cNvSpPr/>
          <p:nvPr/>
        </p:nvSpPr>
        <p:spPr>
          <a:xfrm>
            <a:off x="640080" y="3090672"/>
            <a:ext cx="2651760" cy="713232"/>
          </a:xfrm>
          <a:prstGeom prst="rect">
            <a:avLst/>
          </a:prstGeom>
          <a:solidFill>
            <a:srgbClr val="242450"/>
          </a:solidFill>
          <a:ln w="9525">
            <a:solidFill>
              <a:srgbClr val="E864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8888" name="Text 16"/>
          <p:cNvSpPr/>
          <p:nvPr/>
        </p:nvSpPr>
        <p:spPr>
          <a:xfrm>
            <a:off x="713232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48889" name="Text 17"/>
          <p:cNvSpPr/>
          <p:nvPr/>
        </p:nvSpPr>
        <p:spPr>
          <a:xfrm>
            <a:off x="1115568" y="3154680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Functional Modules</a:t>
            </a:r>
            <a:endParaRPr lang="en-US" sz="1000" dirty="0"/>
          </a:p>
        </p:txBody>
      </p:sp>
      <p:sp>
        <p:nvSpPr>
          <p:cNvPr id="1048890" name="Text 18"/>
          <p:cNvSpPr/>
          <p:nvPr/>
        </p:nvSpPr>
        <p:spPr>
          <a:xfrm>
            <a:off x="1115568" y="3419856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Products, Inventory, HR, Delivery, Finance, Dashboard</a:t>
            </a:r>
            <a:endParaRPr lang="en-US" sz="800" dirty="0"/>
          </a:p>
        </p:txBody>
      </p:sp>
      <p:sp>
        <p:nvSpPr>
          <p:cNvPr id="1048891" name="Shape 19"/>
          <p:cNvSpPr/>
          <p:nvPr/>
        </p:nvSpPr>
        <p:spPr>
          <a:xfrm>
            <a:off x="3474720" y="3090672"/>
            <a:ext cx="2651760" cy="713232"/>
          </a:xfrm>
          <a:prstGeom prst="rect">
            <a:avLst/>
          </a:prstGeom>
          <a:solidFill>
            <a:srgbClr val="242450"/>
          </a:solidFill>
          <a:ln w="9525">
            <a:solidFill>
              <a:srgbClr val="3A6A5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8892" name="Text 20"/>
          <p:cNvSpPr/>
          <p:nvPr/>
        </p:nvSpPr>
        <p:spPr>
          <a:xfrm>
            <a:off x="3547872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048893" name="Text 21"/>
          <p:cNvSpPr/>
          <p:nvPr/>
        </p:nvSpPr>
        <p:spPr>
          <a:xfrm>
            <a:off x="3950208" y="3154680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Stock Updates</a:t>
            </a:r>
            <a:endParaRPr lang="en-US" sz="1000" dirty="0"/>
          </a:p>
        </p:txBody>
      </p:sp>
      <p:sp>
        <p:nvSpPr>
          <p:cNvPr id="1048894" name="Text 22"/>
          <p:cNvSpPr/>
          <p:nvPr/>
        </p:nvSpPr>
        <p:spPr>
          <a:xfrm>
            <a:off x="3950208" y="3419856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deducted automatically on every order</a:t>
            </a:r>
            <a:endParaRPr lang="en-US" sz="800" dirty="0"/>
          </a:p>
        </p:txBody>
      </p:sp>
      <p:sp>
        <p:nvSpPr>
          <p:cNvPr id="1048895" name="Shape 23"/>
          <p:cNvSpPr/>
          <p:nvPr/>
        </p:nvSpPr>
        <p:spPr>
          <a:xfrm>
            <a:off x="640080" y="3895344"/>
            <a:ext cx="2651760" cy="713232"/>
          </a:xfrm>
          <a:prstGeom prst="rect">
            <a:avLst/>
          </a:prstGeom>
          <a:solidFill>
            <a:srgbClr val="242450"/>
          </a:solidFill>
          <a:ln w="9525">
            <a:solidFill>
              <a:srgbClr val="E864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8896" name="Text 24"/>
          <p:cNvSpPr/>
          <p:nvPr/>
        </p:nvSpPr>
        <p:spPr>
          <a:xfrm>
            <a:off x="713232" y="39684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048897" name="Text 25"/>
          <p:cNvSpPr/>
          <p:nvPr/>
        </p:nvSpPr>
        <p:spPr>
          <a:xfrm>
            <a:off x="1115568" y="3959352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00" dirty="0"/>
          </a:p>
        </p:txBody>
      </p:sp>
      <p:sp>
        <p:nvSpPr>
          <p:cNvPr id="1048898" name="Text 26"/>
          <p:cNvSpPr/>
          <p:nvPr/>
        </p:nvSpPr>
        <p:spPr>
          <a:xfrm>
            <a:off x="1115568" y="4224528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Chart.js revenue charts from ORM queries</a:t>
            </a:r>
            <a:endParaRPr lang="en-US" sz="800" dirty="0"/>
          </a:p>
        </p:txBody>
      </p:sp>
      <p:sp>
        <p:nvSpPr>
          <p:cNvPr id="1048899" name="Shape 27"/>
          <p:cNvSpPr/>
          <p:nvPr/>
        </p:nvSpPr>
        <p:spPr>
          <a:xfrm>
            <a:off x="3474720" y="3895344"/>
            <a:ext cx="2651760" cy="713232"/>
          </a:xfrm>
          <a:prstGeom prst="rect">
            <a:avLst/>
          </a:prstGeom>
          <a:solidFill>
            <a:srgbClr val="242450"/>
          </a:solidFill>
          <a:ln w="9525">
            <a:solidFill>
              <a:srgbClr val="3A6A5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8900" name="Text 28"/>
          <p:cNvSpPr/>
          <p:nvPr/>
        </p:nvSpPr>
        <p:spPr>
          <a:xfrm>
            <a:off x="3547872" y="39684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048901" name="Text 29"/>
          <p:cNvSpPr/>
          <p:nvPr/>
        </p:nvSpPr>
        <p:spPr>
          <a:xfrm>
            <a:off x="3950208" y="3959352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000" dirty="0"/>
          </a:p>
        </p:txBody>
      </p:sp>
      <p:sp>
        <p:nvSpPr>
          <p:cNvPr id="1048902" name="Text 30"/>
          <p:cNvSpPr/>
          <p:nvPr/>
        </p:nvSpPr>
        <p:spPr>
          <a:xfrm>
            <a:off x="3950208" y="4224528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HTTPONLY sessions, ORM-only queries, action logs</a:t>
            </a:r>
            <a:endParaRPr lang="en-US" sz="800" dirty="0"/>
          </a:p>
        </p:txBody>
      </p:sp>
      <p:sp>
        <p:nvSpPr>
          <p:cNvPr id="1048903" name="Shape 31"/>
          <p:cNvSpPr/>
          <p:nvPr/>
        </p:nvSpPr>
        <p:spPr>
          <a:xfrm>
            <a:off x="640080" y="4663440"/>
            <a:ext cx="5760720" cy="320040"/>
          </a:xfrm>
          <a:prstGeom prst="rect">
            <a:avLst/>
          </a:prstGeom>
          <a:solidFill>
            <a:srgbClr val="E8642A"/>
          </a:solidFill>
          <a:ln w="12700">
            <a:solidFill>
              <a:srgbClr val="E8642A"/>
            </a:solidFill>
            <a:prstDash val="solid"/>
          </a:ln>
        </p:spPr>
      </p:sp>
      <p:sp>
        <p:nvSpPr>
          <p:cNvPr id="1048904" name="Text 32"/>
          <p:cNvSpPr/>
          <p:nvPr/>
        </p:nvSpPr>
        <p:spPr>
          <a:xfrm>
            <a:off x="640080" y="46634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Ready to build — follow the 30-step guide and submit via GitHub   |   Good luck! 🍽️</a:t>
            </a:r>
            <a:endParaRPr lang="en-US" sz="950" dirty="0"/>
          </a:p>
        </p:txBody>
      </p:sp>
      <p:sp>
        <p:nvSpPr>
          <p:cNvPr id="1048905" name="Text 33"/>
          <p:cNvSpPr/>
          <p:nvPr/>
        </p:nvSpPr>
        <p:spPr>
          <a:xfrm>
            <a:off x="6766560" y="16459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🍽️</a:t>
            </a:r>
            <a:endParaRPr lang="en-US" sz="4800" dirty="0"/>
          </a:p>
        </p:txBody>
      </p:sp>
      <p:sp>
        <p:nvSpPr>
          <p:cNvPr id="1048906" name="Text 34"/>
          <p:cNvSpPr/>
          <p:nvPr/>
        </p:nvSpPr>
        <p:spPr>
          <a:xfrm>
            <a:off x="6675120" y="26517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048907" name="Text 35"/>
          <p:cNvSpPr/>
          <p:nvPr/>
        </p:nvSpPr>
        <p:spPr>
          <a:xfrm>
            <a:off x="6675120" y="33832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MySQL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PKFIE, Yaounde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Affichage à l'écran (16:9)</PresentationFormat>
  <Paragraphs>168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Algerian</vt:lpstr>
      <vt:lpstr>Aptos</vt:lpstr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Management Application</dc:title>
  <dc:creator>PptxGenJS</dc:creator>
  <cp:lastModifiedBy>hp</cp:lastModifiedBy>
  <cp:revision>1</cp:revision>
  <dcterms:created xsi:type="dcterms:W3CDTF">2026-05-16T21:43:25Z</dcterms:created>
  <dcterms:modified xsi:type="dcterms:W3CDTF">2026-05-21T13:23:09Z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9aacd0263dcb43d9b1c86edc7622a0a7</vt:lpwstr>
  </property>
</Properties>
</file>